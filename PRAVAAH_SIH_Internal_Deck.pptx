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PRAVAAH (flow) is still a placeholder name, swap it for the team's final choice. The four numbers are the credibility hook: we are not simulating crowding, we are learning it from a real live feed.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chart left to right. The bus is 52% full right now, which looks fine - but it passes a major hub and arrives 91% full at the passenger's stop. That gap is the whole product.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Separating prediction from decision is deliberate: it keeps the system explainable and auditable, which a government operator will require.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charts, one message: crowding is predictable, so it is decidable. The departure-time chart is the demo moment judges remember.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Google Maps question before a judge asks it. The last column - operator decision support - is the one nobody else has.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boundaries exist so that a broken feed, a model rollback or a new city cannot propagate into the rest of the 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used to be the weak slide; it is now the strongest. We are not simulating crowding - we record a live feed that publishes real occupancy, and we started recording before the hackathon began.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is the pitch: load is forecast to cross capacity at 17:35, and the alert fires at 17:05. Thirty minutes of lead time is the difference between dispatching a bus and writing an incident report.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factual. The stack is proven, the deliverables describe the finished product, and nothing listed depends on data that is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three columns in order: the traveller, the operator, and the network as a whole. The acceptance criteria below show what each claim is tested against.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228600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2286000"/>
            <a:ext cx="146304" cy="2286000"/>
          </a:xfrm>
          <a:prstGeom prst="rect">
            <a:avLst/>
          </a:prstGeom>
          <a:solidFill>
            <a:srgbClr val="102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4572000"/>
            <a:ext cx="146304" cy="2286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60120" y="932688"/>
            <a:ext cx="10058400" cy="274320"/>
          </a:xfrm>
          <a:prstGeom prst="rect">
            <a:avLst/>
          </a:prstGeom>
          <a:noFill/>
        </p:spPr>
        <p:txBody>
          <a:bodyPr wrap="square" lIns="0" rIns="0" tIns="0" bIns="0">
            <a:spAutoFit/>
          </a:bodyPr>
          <a:lstStyle/>
          <a:p>
            <a:pPr algn="l">
              <a:lnSpc>
                <a:spcPct val="122000"/>
              </a:lnSpc>
              <a:spcBef>
                <a:spcPts val="0"/>
              </a:spcBef>
              <a:spcAft>
                <a:spcPts val="0"/>
              </a:spcAft>
            </a:pPr>
            <a:r>
              <a:rPr sz="1100" b="1" i="0">
                <a:solidFill>
                  <a:srgbClr val="E2761B"/>
                </a:solidFill>
                <a:latin typeface="Segoe UI"/>
              </a:rPr>
              <a:t>SMART INDIA HACKATHON 2026   ·   NIT KARNATAKA, SURATHKAL</a:t>
            </a:r>
          </a:p>
        </p:txBody>
      </p:sp>
      <p:sp>
        <p:nvSpPr>
          <p:cNvPr id="7" name="TextBox 6"/>
          <p:cNvSpPr txBox="1"/>
          <p:nvPr/>
        </p:nvSpPr>
        <p:spPr>
          <a:xfrm>
            <a:off x="960120" y="1353312"/>
            <a:ext cx="10058400" cy="960120"/>
          </a:xfrm>
          <a:prstGeom prst="rect">
            <a:avLst/>
          </a:prstGeom>
          <a:noFill/>
        </p:spPr>
        <p:txBody>
          <a:bodyPr wrap="square" lIns="0" rIns="0" tIns="0" bIns="0">
            <a:spAutoFit/>
          </a:bodyPr>
          <a:lstStyle/>
          <a:p>
            <a:pPr algn="l">
              <a:lnSpc>
                <a:spcPct val="100000"/>
              </a:lnSpc>
              <a:spcBef>
                <a:spcPts val="0"/>
              </a:spcBef>
              <a:spcAft>
                <a:spcPts val="0"/>
              </a:spcAft>
            </a:pPr>
            <a:r>
              <a:rPr sz="5800" b="1" i="0">
                <a:solidFill>
                  <a:srgbClr val="10275C"/>
                </a:solidFill>
                <a:latin typeface="Segoe UI"/>
              </a:rPr>
              <a:t>PRAVAAH</a:t>
            </a:r>
          </a:p>
        </p:txBody>
      </p:sp>
      <p:sp>
        <p:nvSpPr>
          <p:cNvPr id="8" name="TextBox 7"/>
          <p:cNvSpPr txBox="1"/>
          <p:nvPr/>
        </p:nvSpPr>
        <p:spPr>
          <a:xfrm>
            <a:off x="960120" y="2340864"/>
            <a:ext cx="10241280" cy="365760"/>
          </a:xfrm>
          <a:prstGeom prst="rect">
            <a:avLst/>
          </a:prstGeom>
          <a:noFill/>
        </p:spPr>
        <p:txBody>
          <a:bodyPr wrap="square" lIns="0" rIns="0" tIns="0" bIns="0">
            <a:spAutoFit/>
          </a:bodyPr>
          <a:lstStyle/>
          <a:p>
            <a:pPr algn="l">
              <a:lnSpc>
                <a:spcPct val="122000"/>
              </a:lnSpc>
              <a:spcBef>
                <a:spcPts val="0"/>
              </a:spcBef>
              <a:spcAft>
                <a:spcPts val="0"/>
              </a:spcAft>
            </a:pPr>
            <a:r>
              <a:rPr sz="1050" b="1">
                <a:solidFill>
                  <a:srgbClr val="8490A2"/>
                </a:solidFill>
                <a:latin typeface="Segoe UI"/>
              </a:rPr>
              <a:t>PROBLEM STATEMENT    </a:t>
            </a:r>
            <a:r>
              <a:rPr sz="2000" b="0">
                <a:solidFill>
                  <a:srgbClr val="1B3F8B"/>
                </a:solidFill>
                <a:latin typeface="Segoe UI"/>
              </a:rPr>
              <a:t>Intelligent Public Transport Crowding &amp; Route Prediction</a:t>
            </a:r>
          </a:p>
        </p:txBody>
      </p:sp>
      <p:sp>
        <p:nvSpPr>
          <p:cNvPr id="9" name="Rectangle 8"/>
          <p:cNvSpPr/>
          <p:nvPr/>
        </p:nvSpPr>
        <p:spPr>
          <a:xfrm>
            <a:off x="960120" y="2926080"/>
            <a:ext cx="548640" cy="77724"/>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1508760" y="2926080"/>
            <a:ext cx="548640" cy="77724"/>
          </a:xfrm>
          <a:prstGeom prst="rect">
            <a:avLst/>
          </a:prstGeom>
          <a:solidFill>
            <a:srgbClr val="102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2057400" y="2926080"/>
            <a:ext cx="548640" cy="77724"/>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0120" y="3273552"/>
            <a:ext cx="9326880" cy="822960"/>
          </a:xfrm>
          <a:prstGeom prst="rect">
            <a:avLst/>
          </a:prstGeom>
          <a:noFill/>
        </p:spPr>
        <p:txBody>
          <a:bodyPr wrap="square" lIns="0" rIns="0" tIns="0" bIns="0">
            <a:spAutoFit/>
          </a:bodyPr>
          <a:lstStyle/>
          <a:p>
            <a:pPr algn="l">
              <a:lnSpc>
                <a:spcPct val="134000"/>
              </a:lnSpc>
              <a:spcBef>
                <a:spcPts val="0"/>
              </a:spcBef>
              <a:spcAft>
                <a:spcPts val="0"/>
              </a:spcAft>
            </a:pPr>
            <a:r>
              <a:rPr sz="1600" b="0">
                <a:solidFill>
                  <a:srgbClr val="4A5568"/>
                </a:solidFill>
                <a:latin typeface="Segoe UI"/>
              </a:rPr>
              <a:t>Forecast how crowded and delayed a bus will be </a:t>
            </a:r>
            <a:r>
              <a:rPr sz="1600" b="1">
                <a:solidFill>
                  <a:srgbClr val="10275C"/>
                </a:solidFill>
                <a:latin typeface="Segoe UI"/>
              </a:rPr>
              <a:t>when it reaches you</a:t>
            </a:r>
            <a:r>
              <a:rPr sz="1600" b="0">
                <a:solidFill>
                  <a:srgbClr val="4A5568"/>
                </a:solidFill>
                <a:latin typeface="Segoe UI"/>
              </a:rPr>
              <a:t>, then decide the better route or departure time </a:t>
            </a:r>
            <a:r>
              <a:rPr sz="1600" b="1">
                <a:solidFill>
                  <a:srgbClr val="10275C"/>
                </a:solidFill>
                <a:latin typeface="Segoe UI"/>
              </a:rPr>
              <a:t>before the problem happens.</a:t>
            </a:r>
          </a:p>
        </p:txBody>
      </p:sp>
      <p:sp>
        <p:nvSpPr>
          <p:cNvPr id="13" name="Rectangle 12"/>
          <p:cNvSpPr/>
          <p:nvPr/>
        </p:nvSpPr>
        <p:spPr>
          <a:xfrm>
            <a:off x="996696" y="4443984"/>
            <a:ext cx="5678424" cy="19050"/>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937260" y="4394073"/>
            <a:ext cx="118872" cy="118872"/>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2068372" y="4389501"/>
            <a:ext cx="128016" cy="128016"/>
          </a:xfrm>
          <a:prstGeom prst="ellipse">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194913" y="4380357"/>
            <a:ext cx="146304" cy="146304"/>
          </a:xfrm>
          <a:prstGeom prst="ellipse">
            <a:avLst/>
          </a:prstGeom>
          <a:solidFill>
            <a:srgbClr val="C886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321454" y="4371213"/>
            <a:ext cx="164592" cy="164592"/>
          </a:xfrm>
          <a:prstGeom prst="ellipse">
            <a:avLst/>
          </a:prstGeom>
          <a:solidFill>
            <a:srgbClr val="C886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5447995" y="4362069"/>
            <a:ext cx="182880" cy="182880"/>
          </a:xfrm>
          <a:prstGeom prst="ellipse">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565392" y="4343781"/>
            <a:ext cx="219456" cy="219456"/>
          </a:xfrm>
          <a:prstGeom prst="ellipse">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49440" y="4325112"/>
            <a:ext cx="4023360" cy="237744"/>
          </a:xfrm>
          <a:prstGeom prst="rect">
            <a:avLst/>
          </a:prstGeom>
          <a:noFill/>
        </p:spPr>
        <p:txBody>
          <a:bodyPr wrap="square" lIns="0" rIns="0" tIns="0" bIns="0">
            <a:spAutoFit/>
          </a:bodyPr>
          <a:lstStyle/>
          <a:p>
            <a:pPr algn="l">
              <a:lnSpc>
                <a:spcPct val="122000"/>
              </a:lnSpc>
              <a:spcBef>
                <a:spcPts val="0"/>
              </a:spcBef>
              <a:spcAft>
                <a:spcPts val="0"/>
              </a:spcAft>
            </a:pPr>
            <a:r>
              <a:rPr sz="1000" b="0" i="1">
                <a:solidFill>
                  <a:srgbClr val="8490A2"/>
                </a:solidFill>
                <a:latin typeface="Segoe UI"/>
              </a:rPr>
              <a:t>crowding builds along the route, before you board</a:t>
            </a:r>
          </a:p>
        </p:txBody>
      </p:sp>
      <p:sp>
        <p:nvSpPr>
          <p:cNvPr id="21" name="TextBox 20"/>
          <p:cNvSpPr txBox="1"/>
          <p:nvPr/>
        </p:nvSpPr>
        <p:spPr>
          <a:xfrm>
            <a:off x="960120" y="5138928"/>
            <a:ext cx="10058400" cy="237744"/>
          </a:xfrm>
          <a:prstGeom prst="rect">
            <a:avLst/>
          </a:prstGeom>
          <a:noFill/>
        </p:spPr>
        <p:txBody>
          <a:bodyPr wrap="square" lIns="0" rIns="0" tIns="0" bIns="0">
            <a:spAutoFit/>
          </a:bodyPr>
          <a:lstStyle/>
          <a:p>
            <a:pPr algn="l">
              <a:lnSpc>
                <a:spcPct val="122000"/>
              </a:lnSpc>
              <a:spcBef>
                <a:spcPts val="0"/>
              </a:spcBef>
              <a:spcAft>
                <a:spcPts val="0"/>
              </a:spcAft>
            </a:pPr>
            <a:r>
              <a:rPr sz="1050" b="0" i="0">
                <a:solidFill>
                  <a:srgbClr val="8490A2"/>
                </a:solidFill>
                <a:latin typeface="Segoe UI"/>
              </a:rPr>
              <a:t>Built on open GTFS and GTFS-Realtime feeds: real network, real vehicle movement, real operator-reported crowding.</a:t>
            </a:r>
          </a:p>
        </p:txBody>
      </p:sp>
      <p:sp>
        <p:nvSpPr>
          <p:cNvPr id="22" name="Rectangle 21"/>
          <p:cNvSpPr/>
          <p:nvPr/>
        </p:nvSpPr>
        <p:spPr>
          <a:xfrm>
            <a:off x="960120" y="5705856"/>
            <a:ext cx="10332720" cy="952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60120" y="5815584"/>
            <a:ext cx="3657600" cy="219456"/>
          </a:xfrm>
          <a:prstGeom prst="rect">
            <a:avLst/>
          </a:prstGeom>
          <a:noFill/>
        </p:spPr>
        <p:txBody>
          <a:bodyPr wrap="square" lIns="0" rIns="0" tIns="0" bIns="0">
            <a:spAutoFit/>
          </a:bodyPr>
          <a:lstStyle/>
          <a:p>
            <a:pPr algn="l">
              <a:lnSpc>
                <a:spcPct val="122000"/>
              </a:lnSpc>
              <a:spcBef>
                <a:spcPts val="0"/>
              </a:spcBef>
              <a:spcAft>
                <a:spcPts val="0"/>
              </a:spcAft>
            </a:pPr>
            <a:r>
              <a:rPr sz="900" b="1" i="0">
                <a:solidFill>
                  <a:srgbClr val="E2761B"/>
                </a:solidFill>
                <a:latin typeface="Segoe UI"/>
              </a:rPr>
              <a:t>TEAM</a:t>
            </a:r>
          </a:p>
        </p:txBody>
      </p:sp>
      <p:sp>
        <p:nvSpPr>
          <p:cNvPr id="24" name="TextBox 23"/>
          <p:cNvSpPr txBox="1"/>
          <p:nvPr/>
        </p:nvSpPr>
        <p:spPr>
          <a:xfrm>
            <a:off x="960120" y="6053328"/>
            <a:ext cx="3337560" cy="237744"/>
          </a:xfrm>
          <a:prstGeom prst="rect">
            <a:avLst/>
          </a:prstGeom>
          <a:noFill/>
        </p:spPr>
        <p:txBody>
          <a:bodyPr wrap="square" lIns="0" rIns="0" tIns="0" bIns="0">
            <a:spAutoFit/>
          </a:bodyPr>
          <a:lstStyle/>
          <a:p>
            <a:pPr algn="l">
              <a:lnSpc>
                <a:spcPct val="122000"/>
              </a:lnSpc>
              <a:spcBef>
                <a:spcPts val="0"/>
              </a:spcBef>
              <a:spcAft>
                <a:spcPts val="0"/>
              </a:spcAft>
            </a:pPr>
            <a:r>
              <a:rPr sz="1050" b="1">
                <a:solidFill>
                  <a:srgbClr val="10275C"/>
                </a:solidFill>
                <a:latin typeface="Segoe UI"/>
              </a:rPr>
              <a:t>Rushil Jain</a:t>
            </a:r>
            <a:r>
              <a:rPr sz="1000" b="0">
                <a:solidFill>
                  <a:srgbClr val="8490A2"/>
                </a:solidFill>
                <a:latin typeface="Segoe UI"/>
              </a:rPr>
              <a:t>    241EC148</a:t>
            </a:r>
          </a:p>
        </p:txBody>
      </p:sp>
      <p:sp>
        <p:nvSpPr>
          <p:cNvPr id="25" name="TextBox 24"/>
          <p:cNvSpPr txBox="1"/>
          <p:nvPr/>
        </p:nvSpPr>
        <p:spPr>
          <a:xfrm>
            <a:off x="4434840" y="6053328"/>
            <a:ext cx="3337560" cy="237744"/>
          </a:xfrm>
          <a:prstGeom prst="rect">
            <a:avLst/>
          </a:prstGeom>
          <a:noFill/>
        </p:spPr>
        <p:txBody>
          <a:bodyPr wrap="square" lIns="0" rIns="0" tIns="0" bIns="0">
            <a:spAutoFit/>
          </a:bodyPr>
          <a:lstStyle/>
          <a:p>
            <a:pPr algn="l">
              <a:lnSpc>
                <a:spcPct val="122000"/>
              </a:lnSpc>
              <a:spcBef>
                <a:spcPts val="0"/>
              </a:spcBef>
              <a:spcAft>
                <a:spcPts val="0"/>
              </a:spcAft>
            </a:pPr>
            <a:r>
              <a:rPr sz="1050" b="1">
                <a:solidFill>
                  <a:srgbClr val="10275C"/>
                </a:solidFill>
                <a:latin typeface="Segoe UI"/>
              </a:rPr>
              <a:t>Mayank Tiwari</a:t>
            </a:r>
            <a:r>
              <a:rPr sz="1000" b="0">
                <a:solidFill>
                  <a:srgbClr val="8490A2"/>
                </a:solidFill>
                <a:latin typeface="Segoe UI"/>
              </a:rPr>
              <a:t>    241CV235</a:t>
            </a:r>
          </a:p>
        </p:txBody>
      </p:sp>
      <p:sp>
        <p:nvSpPr>
          <p:cNvPr id="26" name="TextBox 25"/>
          <p:cNvSpPr txBox="1"/>
          <p:nvPr/>
        </p:nvSpPr>
        <p:spPr>
          <a:xfrm>
            <a:off x="7909560" y="6053328"/>
            <a:ext cx="3337560" cy="237744"/>
          </a:xfrm>
          <a:prstGeom prst="rect">
            <a:avLst/>
          </a:prstGeom>
          <a:noFill/>
        </p:spPr>
        <p:txBody>
          <a:bodyPr wrap="square" lIns="0" rIns="0" tIns="0" bIns="0">
            <a:spAutoFit/>
          </a:bodyPr>
          <a:lstStyle/>
          <a:p>
            <a:pPr algn="l">
              <a:lnSpc>
                <a:spcPct val="122000"/>
              </a:lnSpc>
              <a:spcBef>
                <a:spcPts val="0"/>
              </a:spcBef>
              <a:spcAft>
                <a:spcPts val="0"/>
              </a:spcAft>
            </a:pPr>
            <a:r>
              <a:rPr sz="1050" b="1">
                <a:solidFill>
                  <a:srgbClr val="10275C"/>
                </a:solidFill>
                <a:latin typeface="Segoe UI"/>
              </a:rPr>
              <a:t>Krupa Marol</a:t>
            </a:r>
            <a:r>
              <a:rPr sz="1000" b="0">
                <a:solidFill>
                  <a:srgbClr val="8490A2"/>
                </a:solidFill>
                <a:latin typeface="Segoe UI"/>
              </a:rPr>
              <a:t>    241CV231</a:t>
            </a:r>
          </a:p>
        </p:txBody>
      </p:sp>
      <p:sp>
        <p:nvSpPr>
          <p:cNvPr id="27" name="TextBox 26"/>
          <p:cNvSpPr txBox="1"/>
          <p:nvPr/>
        </p:nvSpPr>
        <p:spPr>
          <a:xfrm>
            <a:off x="960120" y="6327648"/>
            <a:ext cx="3337560" cy="237744"/>
          </a:xfrm>
          <a:prstGeom prst="rect">
            <a:avLst/>
          </a:prstGeom>
          <a:noFill/>
        </p:spPr>
        <p:txBody>
          <a:bodyPr wrap="square" lIns="0" rIns="0" tIns="0" bIns="0">
            <a:spAutoFit/>
          </a:bodyPr>
          <a:lstStyle/>
          <a:p>
            <a:pPr algn="l">
              <a:lnSpc>
                <a:spcPct val="122000"/>
              </a:lnSpc>
              <a:spcBef>
                <a:spcPts val="0"/>
              </a:spcBef>
              <a:spcAft>
                <a:spcPts val="0"/>
              </a:spcAft>
            </a:pPr>
            <a:r>
              <a:rPr sz="1050" b="1">
                <a:solidFill>
                  <a:srgbClr val="10275C"/>
                </a:solidFill>
                <a:latin typeface="Segoe UI"/>
              </a:rPr>
              <a:t>Sumit</a:t>
            </a:r>
            <a:r>
              <a:rPr sz="1000" b="0">
                <a:solidFill>
                  <a:srgbClr val="8490A2"/>
                </a:solidFill>
                <a:latin typeface="Segoe UI"/>
              </a:rPr>
              <a:t>    241CV150</a:t>
            </a:r>
          </a:p>
        </p:txBody>
      </p:sp>
      <p:sp>
        <p:nvSpPr>
          <p:cNvPr id="28" name="TextBox 27"/>
          <p:cNvSpPr txBox="1"/>
          <p:nvPr/>
        </p:nvSpPr>
        <p:spPr>
          <a:xfrm>
            <a:off x="4434840" y="6327648"/>
            <a:ext cx="3337560" cy="237744"/>
          </a:xfrm>
          <a:prstGeom prst="rect">
            <a:avLst/>
          </a:prstGeom>
          <a:noFill/>
        </p:spPr>
        <p:txBody>
          <a:bodyPr wrap="square" lIns="0" rIns="0" tIns="0" bIns="0">
            <a:spAutoFit/>
          </a:bodyPr>
          <a:lstStyle/>
          <a:p>
            <a:pPr algn="l">
              <a:lnSpc>
                <a:spcPct val="122000"/>
              </a:lnSpc>
              <a:spcBef>
                <a:spcPts val="0"/>
              </a:spcBef>
              <a:spcAft>
                <a:spcPts val="0"/>
              </a:spcAft>
            </a:pPr>
            <a:r>
              <a:rPr sz="1050" b="1">
                <a:solidFill>
                  <a:srgbClr val="10275C"/>
                </a:solidFill>
                <a:latin typeface="Segoe UI"/>
              </a:rPr>
              <a:t>Somyak Mohanta</a:t>
            </a:r>
            <a:r>
              <a:rPr sz="1000" b="0">
                <a:solidFill>
                  <a:srgbClr val="8490A2"/>
                </a:solidFill>
                <a:latin typeface="Segoe UI"/>
              </a:rPr>
              <a:t>    241CS257</a:t>
            </a:r>
          </a:p>
        </p:txBody>
      </p:sp>
      <p:sp>
        <p:nvSpPr>
          <p:cNvPr id="29" name="TextBox 28"/>
          <p:cNvSpPr txBox="1"/>
          <p:nvPr/>
        </p:nvSpPr>
        <p:spPr>
          <a:xfrm>
            <a:off x="7909560" y="6327648"/>
            <a:ext cx="3337560" cy="237744"/>
          </a:xfrm>
          <a:prstGeom prst="rect">
            <a:avLst/>
          </a:prstGeom>
          <a:noFill/>
        </p:spPr>
        <p:txBody>
          <a:bodyPr wrap="square" lIns="0" rIns="0" tIns="0" bIns="0">
            <a:spAutoFit/>
          </a:bodyPr>
          <a:lstStyle/>
          <a:p>
            <a:pPr algn="l">
              <a:lnSpc>
                <a:spcPct val="122000"/>
              </a:lnSpc>
              <a:spcBef>
                <a:spcPts val="0"/>
              </a:spcBef>
              <a:spcAft>
                <a:spcPts val="0"/>
              </a:spcAft>
            </a:pPr>
            <a:r>
              <a:rPr sz="1050" b="1">
                <a:solidFill>
                  <a:srgbClr val="10275C"/>
                </a:solidFill>
                <a:latin typeface="Segoe UI"/>
              </a:rPr>
              <a:t>Rajvardhan</a:t>
            </a:r>
            <a:r>
              <a:rPr sz="1000" b="0">
                <a:solidFill>
                  <a:srgbClr val="8490A2"/>
                </a:solidFill>
                <a:latin typeface="Segoe UI"/>
              </a:rPr>
              <a:t>    241MT041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10896"/>
            <a:ext cx="158496" cy="6858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25424" y="310896"/>
            <a:ext cx="158496" cy="68580"/>
          </a:xfrm>
          <a:prstGeom prst="rect">
            <a:avLst/>
          </a:prstGeom>
          <a:solidFill>
            <a:srgbClr val="102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83920" y="310896"/>
            <a:ext cx="158496" cy="6858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88720" y="256032"/>
            <a:ext cx="11057839" cy="237744"/>
          </a:xfrm>
          <a:prstGeom prst="rect">
            <a:avLst/>
          </a:prstGeom>
          <a:noFill/>
        </p:spPr>
        <p:txBody>
          <a:bodyPr wrap="square" lIns="0" rIns="0" tIns="0" bIns="0">
            <a:spAutoFit/>
          </a:bodyPr>
          <a:lstStyle/>
          <a:p>
            <a:pPr algn="l">
              <a:lnSpc>
                <a:spcPct val="122000"/>
              </a:lnSpc>
              <a:spcBef>
                <a:spcPts val="0"/>
              </a:spcBef>
              <a:spcAft>
                <a:spcPts val="0"/>
              </a:spcAft>
            </a:pPr>
            <a:r>
              <a:rPr sz="1000" b="1" i="0">
                <a:solidFill>
                  <a:srgbClr val="E2761B"/>
                </a:solidFill>
                <a:latin typeface="Segoe UI"/>
              </a:rPr>
              <a:t>THE PROBLEM</a:t>
            </a:r>
          </a:p>
        </p:txBody>
      </p:sp>
      <p:sp>
        <p:nvSpPr>
          <p:cNvPr id="6" name="TextBox 5"/>
          <p:cNvSpPr txBox="1"/>
          <p:nvPr/>
        </p:nvSpPr>
        <p:spPr>
          <a:xfrm>
            <a:off x="566928" y="548640"/>
            <a:ext cx="11057839" cy="457200"/>
          </a:xfrm>
          <a:prstGeom prst="rect">
            <a:avLst/>
          </a:prstGeom>
          <a:noFill/>
        </p:spPr>
        <p:txBody>
          <a:bodyPr wrap="square" lIns="0" rIns="0" tIns="0" bIns="0">
            <a:spAutoFit/>
          </a:bodyPr>
          <a:lstStyle/>
          <a:p>
            <a:pPr algn="l">
              <a:lnSpc>
                <a:spcPct val="100000"/>
              </a:lnSpc>
              <a:spcBef>
                <a:spcPts val="0"/>
              </a:spcBef>
              <a:spcAft>
                <a:spcPts val="0"/>
              </a:spcAft>
            </a:pPr>
            <a:r>
              <a:rPr sz="2400" b="1" i="0">
                <a:solidFill>
                  <a:srgbClr val="10275C"/>
                </a:solidFill>
                <a:latin typeface="Segoe UI"/>
              </a:rPr>
              <a:t>A bus that looks empty now can be full when it reaches you</a:t>
            </a:r>
          </a:p>
        </p:txBody>
      </p:sp>
      <p:sp>
        <p:nvSpPr>
          <p:cNvPr id="7" name="TextBox 6"/>
          <p:cNvSpPr txBox="1"/>
          <p:nvPr/>
        </p:nvSpPr>
        <p:spPr>
          <a:xfrm>
            <a:off x="566928" y="1060704"/>
            <a:ext cx="10783519" cy="292608"/>
          </a:xfrm>
          <a:prstGeom prst="rect">
            <a:avLst/>
          </a:prstGeom>
          <a:noFill/>
        </p:spPr>
        <p:txBody>
          <a:bodyPr wrap="square" lIns="0" rIns="0" tIns="0" bIns="0">
            <a:spAutoFit/>
          </a:bodyPr>
          <a:lstStyle/>
          <a:p>
            <a:pPr algn="l">
              <a:lnSpc>
                <a:spcPct val="122000"/>
              </a:lnSpc>
              <a:spcBef>
                <a:spcPts val="0"/>
              </a:spcBef>
              <a:spcAft>
                <a:spcPts val="0"/>
              </a:spcAft>
            </a:pPr>
            <a:r>
              <a:rPr sz="1250" b="0" i="0">
                <a:solidFill>
                  <a:srgbClr val="8490A2"/>
                </a:solidFill>
                <a:latin typeface="Segoe UI"/>
              </a:rPr>
              <a:t>Current occupancy is the wrong signal. What matters is the load at your stop, at your boarding time.</a:t>
            </a:r>
          </a:p>
        </p:txBody>
      </p:sp>
      <p:sp>
        <p:nvSpPr>
          <p:cNvPr id="8" name="Rectangle 7"/>
          <p:cNvSpPr/>
          <p:nvPr/>
        </p:nvSpPr>
        <p:spPr>
          <a:xfrm>
            <a:off x="566928" y="1371600"/>
            <a:ext cx="11057839" cy="952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66928" y="6419088"/>
            <a:ext cx="10509199" cy="201168"/>
          </a:xfrm>
          <a:prstGeom prst="rect">
            <a:avLst/>
          </a:prstGeom>
          <a:noFill/>
        </p:spPr>
        <p:txBody>
          <a:bodyPr wrap="square" lIns="0" rIns="0" tIns="0" bIns="0">
            <a:spAutoFit/>
          </a:bodyPr>
          <a:lstStyle/>
          <a:p>
            <a:pPr algn="l">
              <a:lnSpc>
                <a:spcPct val="122000"/>
              </a:lnSpc>
              <a:spcBef>
                <a:spcPts val="0"/>
              </a:spcBef>
              <a:spcAft>
                <a:spcPts val="0"/>
              </a:spcAft>
            </a:pPr>
            <a:r>
              <a:rPr sz="850" b="0" i="0">
                <a:solidFill>
                  <a:srgbClr val="8490A2"/>
                </a:solidFill>
                <a:latin typeface="Segoe UI"/>
              </a:rPr>
              <a:t>PRAVAAH  |  Intelligent Public Transport Crowding &amp; Route Prediction</a:t>
            </a:r>
          </a:p>
        </p:txBody>
      </p:sp>
      <p:sp>
        <p:nvSpPr>
          <p:cNvPr id="10" name="TextBox 9"/>
          <p:cNvSpPr txBox="1"/>
          <p:nvPr/>
        </p:nvSpPr>
        <p:spPr>
          <a:xfrm>
            <a:off x="11076127" y="6419088"/>
            <a:ext cx="548640" cy="201168"/>
          </a:xfrm>
          <a:prstGeom prst="rect">
            <a:avLst/>
          </a:prstGeom>
          <a:noFill/>
        </p:spPr>
        <p:txBody>
          <a:bodyPr wrap="square" lIns="0" rIns="0" tIns="0" bIns="0">
            <a:spAutoFit/>
          </a:bodyPr>
          <a:lstStyle/>
          <a:p>
            <a:pPr algn="r">
              <a:lnSpc>
                <a:spcPct val="122000"/>
              </a:lnSpc>
              <a:spcBef>
                <a:spcPts val="0"/>
              </a:spcBef>
              <a:spcAft>
                <a:spcPts val="0"/>
              </a:spcAft>
            </a:pPr>
            <a:r>
              <a:rPr sz="900" b="1" i="0">
                <a:solidFill>
                  <a:srgbClr val="10275C"/>
                </a:solidFill>
                <a:latin typeface="Segoe UI"/>
              </a:rPr>
              <a:t>2</a:t>
            </a:r>
          </a:p>
        </p:txBody>
      </p:sp>
      <p:sp>
        <p:nvSpPr>
          <p:cNvPr id="11" name="Rounded Rectangle 10"/>
          <p:cNvSpPr/>
          <p:nvPr/>
        </p:nvSpPr>
        <p:spPr>
          <a:xfrm>
            <a:off x="566928" y="1609344"/>
            <a:ext cx="11057839" cy="2487168"/>
          </a:xfrm>
          <a:prstGeom prst="roundRect">
            <a:avLst>
              <a:gd name="adj" fmla="val 5000"/>
            </a:avLst>
          </a:prstGeom>
          <a:solidFill>
            <a:srgbClr val="F5F7FA"/>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41248" y="1755648"/>
            <a:ext cx="7315200" cy="237744"/>
          </a:xfrm>
          <a:prstGeom prst="rect">
            <a:avLst/>
          </a:prstGeom>
          <a:noFill/>
        </p:spPr>
        <p:txBody>
          <a:bodyPr wrap="square" lIns="0" rIns="0" tIns="0" bIns="0">
            <a:spAutoFit/>
          </a:bodyPr>
          <a:lstStyle/>
          <a:p>
            <a:pPr algn="l">
              <a:lnSpc>
                <a:spcPct val="122000"/>
              </a:lnSpc>
              <a:spcBef>
                <a:spcPts val="0"/>
              </a:spcBef>
              <a:spcAft>
                <a:spcPts val="0"/>
              </a:spcAft>
            </a:pPr>
            <a:r>
              <a:rPr sz="1150" b="1">
                <a:solidFill>
                  <a:srgbClr val="10275C"/>
                </a:solidFill>
                <a:latin typeface="Segoe UI"/>
              </a:rPr>
              <a:t>Predicted occupancy of one bus along its route</a:t>
            </a:r>
            <a:r>
              <a:rPr sz="1050" b="0">
                <a:solidFill>
                  <a:srgbClr val="8490A2"/>
                </a:solidFill>
                <a:latin typeface="Segoe UI"/>
              </a:rPr>
              <a:t>      the passenger boards at the far end</a:t>
            </a:r>
          </a:p>
        </p:txBody>
      </p:sp>
      <p:sp>
        <p:nvSpPr>
          <p:cNvPr id="13" name="Rectangle 12"/>
          <p:cNvSpPr/>
          <p:nvPr/>
        </p:nvSpPr>
        <p:spPr>
          <a:xfrm>
            <a:off x="932688" y="3547872"/>
            <a:ext cx="10326319" cy="12700"/>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1397372" y="3327319"/>
            <a:ext cx="791684" cy="220553"/>
          </a:xfrm>
          <a:prstGeom prst="roundRect">
            <a:avLst>
              <a:gd name="adj" fmla="val 16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290294" y="3089575"/>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138808"/>
                </a:solidFill>
                <a:latin typeface="Segoe UI"/>
              </a:rPr>
              <a:t>18%</a:t>
            </a:r>
          </a:p>
        </p:txBody>
      </p:sp>
      <p:sp>
        <p:nvSpPr>
          <p:cNvPr id="16" name="TextBox 15"/>
          <p:cNvSpPr txBox="1"/>
          <p:nvPr/>
        </p:nvSpPr>
        <p:spPr>
          <a:xfrm>
            <a:off x="1226286" y="3630168"/>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950" b="1" i="0">
                <a:solidFill>
                  <a:srgbClr val="10275C"/>
                </a:solidFill>
                <a:latin typeface="Segoe UI"/>
              </a:rPr>
              <a:t>Depot</a:t>
            </a:r>
          </a:p>
          <a:p>
            <a:pPr algn="ctr">
              <a:lnSpc>
                <a:spcPct val="110000"/>
              </a:lnSpc>
              <a:spcBef>
                <a:spcPts val="0"/>
              </a:spcBef>
              <a:spcAft>
                <a:spcPts val="0"/>
              </a:spcAft>
            </a:pPr>
            <a:r>
              <a:rPr sz="850" b="0" i="0">
                <a:solidFill>
                  <a:srgbClr val="8490A2"/>
                </a:solidFill>
                <a:latin typeface="Segoe UI"/>
              </a:rPr>
              <a:t>07:42</a:t>
            </a:r>
          </a:p>
        </p:txBody>
      </p:sp>
      <p:sp>
        <p:nvSpPr>
          <p:cNvPr id="17" name="Rounded Rectangle 16"/>
          <p:cNvSpPr/>
          <p:nvPr/>
        </p:nvSpPr>
        <p:spPr>
          <a:xfrm>
            <a:off x="3118425" y="3131272"/>
            <a:ext cx="791684" cy="416600"/>
          </a:xfrm>
          <a:prstGeom prst="roundRect">
            <a:avLst>
              <a:gd name="adj" fmla="val 16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011347" y="2893528"/>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138808"/>
                </a:solidFill>
                <a:latin typeface="Segoe UI"/>
              </a:rPr>
              <a:t>34%</a:t>
            </a:r>
          </a:p>
        </p:txBody>
      </p:sp>
      <p:sp>
        <p:nvSpPr>
          <p:cNvPr id="19" name="TextBox 18"/>
          <p:cNvSpPr txBox="1"/>
          <p:nvPr/>
        </p:nvSpPr>
        <p:spPr>
          <a:xfrm>
            <a:off x="2947339" y="3630168"/>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950" b="1" i="0">
                <a:solidFill>
                  <a:srgbClr val="10275C"/>
                </a:solidFill>
                <a:latin typeface="Segoe UI"/>
              </a:rPr>
              <a:t>Sector 9</a:t>
            </a:r>
          </a:p>
          <a:p>
            <a:pPr algn="ctr">
              <a:lnSpc>
                <a:spcPct val="110000"/>
              </a:lnSpc>
              <a:spcBef>
                <a:spcPts val="0"/>
              </a:spcBef>
              <a:spcAft>
                <a:spcPts val="0"/>
              </a:spcAft>
            </a:pPr>
            <a:r>
              <a:rPr sz="850" b="0" i="0">
                <a:solidFill>
                  <a:srgbClr val="8490A2"/>
                </a:solidFill>
                <a:latin typeface="Segoe UI"/>
              </a:rPr>
              <a:t>07:51</a:t>
            </a:r>
          </a:p>
        </p:txBody>
      </p:sp>
      <p:sp>
        <p:nvSpPr>
          <p:cNvPr id="20" name="Rounded Rectangle 19"/>
          <p:cNvSpPr/>
          <p:nvPr/>
        </p:nvSpPr>
        <p:spPr>
          <a:xfrm>
            <a:off x="4839478" y="2910719"/>
            <a:ext cx="791684" cy="637153"/>
          </a:xfrm>
          <a:prstGeom prst="roundRect">
            <a:avLst>
              <a:gd name="adj" fmla="val 16000"/>
            </a:avLst>
          </a:prstGeom>
          <a:solidFill>
            <a:srgbClr val="C886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732400" y="2672975"/>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C8860E"/>
                </a:solidFill>
                <a:latin typeface="Segoe UI"/>
              </a:rPr>
              <a:t>52%</a:t>
            </a:r>
          </a:p>
        </p:txBody>
      </p:sp>
      <p:sp>
        <p:nvSpPr>
          <p:cNvPr id="22" name="TextBox 21"/>
          <p:cNvSpPr txBox="1"/>
          <p:nvPr/>
        </p:nvSpPr>
        <p:spPr>
          <a:xfrm>
            <a:off x="4668392" y="3630168"/>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950" b="1" i="0">
                <a:solidFill>
                  <a:srgbClr val="10275C"/>
                </a:solidFill>
                <a:latin typeface="Segoe UI"/>
              </a:rPr>
              <a:t>Bus is HERE</a:t>
            </a:r>
          </a:p>
          <a:p>
            <a:pPr algn="ctr">
              <a:lnSpc>
                <a:spcPct val="110000"/>
              </a:lnSpc>
              <a:spcBef>
                <a:spcPts val="0"/>
              </a:spcBef>
              <a:spcAft>
                <a:spcPts val="0"/>
              </a:spcAft>
            </a:pPr>
            <a:r>
              <a:rPr sz="850" b="0" i="0">
                <a:solidFill>
                  <a:srgbClr val="8490A2"/>
                </a:solidFill>
                <a:latin typeface="Segoe UI"/>
              </a:rPr>
              <a:t>now</a:t>
            </a:r>
          </a:p>
        </p:txBody>
      </p:sp>
      <p:sp>
        <p:nvSpPr>
          <p:cNvPr id="23" name="Rounded Rectangle 22"/>
          <p:cNvSpPr/>
          <p:nvPr/>
        </p:nvSpPr>
        <p:spPr>
          <a:xfrm>
            <a:off x="6560532" y="2677912"/>
            <a:ext cx="791684" cy="869960"/>
          </a:xfrm>
          <a:prstGeom prst="roundRect">
            <a:avLst>
              <a:gd name="adj" fmla="val 16000"/>
            </a:avLst>
          </a:prstGeom>
          <a:solidFill>
            <a:srgbClr val="C886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53454" y="2440168"/>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C8860E"/>
                </a:solidFill>
                <a:latin typeface="Segoe UI"/>
              </a:rPr>
              <a:t>71%</a:t>
            </a:r>
          </a:p>
        </p:txBody>
      </p:sp>
      <p:sp>
        <p:nvSpPr>
          <p:cNvPr id="25" name="TextBox 24"/>
          <p:cNvSpPr txBox="1"/>
          <p:nvPr/>
        </p:nvSpPr>
        <p:spPr>
          <a:xfrm>
            <a:off x="6389446" y="3630168"/>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950" b="1" i="0">
                <a:solidFill>
                  <a:srgbClr val="10275C"/>
                </a:solidFill>
                <a:latin typeface="Segoe UI"/>
              </a:rPr>
              <a:t>City Hub</a:t>
            </a:r>
          </a:p>
          <a:p>
            <a:pPr algn="ctr">
              <a:lnSpc>
                <a:spcPct val="110000"/>
              </a:lnSpc>
              <a:spcBef>
                <a:spcPts val="0"/>
              </a:spcBef>
              <a:spcAft>
                <a:spcPts val="0"/>
              </a:spcAft>
            </a:pPr>
            <a:r>
              <a:rPr sz="850" b="0" i="0">
                <a:solidFill>
                  <a:srgbClr val="8490A2"/>
                </a:solidFill>
                <a:latin typeface="Segoe UI"/>
              </a:rPr>
              <a:t>08:06</a:t>
            </a:r>
          </a:p>
        </p:txBody>
      </p:sp>
      <p:sp>
        <p:nvSpPr>
          <p:cNvPr id="26" name="Rounded Rectangle 25"/>
          <p:cNvSpPr/>
          <p:nvPr/>
        </p:nvSpPr>
        <p:spPr>
          <a:xfrm>
            <a:off x="8281585" y="2469612"/>
            <a:ext cx="791684" cy="1078260"/>
          </a:xfrm>
          <a:prstGeom prst="roundRect">
            <a:avLst>
              <a:gd name="adj" fmla="val 16000"/>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174507" y="2231868"/>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C43D2E"/>
                </a:solidFill>
                <a:latin typeface="Segoe UI"/>
              </a:rPr>
              <a:t>88%</a:t>
            </a:r>
          </a:p>
        </p:txBody>
      </p:sp>
      <p:sp>
        <p:nvSpPr>
          <p:cNvPr id="28" name="TextBox 27"/>
          <p:cNvSpPr txBox="1"/>
          <p:nvPr/>
        </p:nvSpPr>
        <p:spPr>
          <a:xfrm>
            <a:off x="8110499" y="3630168"/>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950" b="1" i="0">
                <a:solidFill>
                  <a:srgbClr val="10275C"/>
                </a:solidFill>
                <a:latin typeface="Segoe UI"/>
              </a:rPr>
              <a:t>Mall Road</a:t>
            </a:r>
          </a:p>
          <a:p>
            <a:pPr algn="ctr">
              <a:lnSpc>
                <a:spcPct val="110000"/>
              </a:lnSpc>
              <a:spcBef>
                <a:spcPts val="0"/>
              </a:spcBef>
              <a:spcAft>
                <a:spcPts val="0"/>
              </a:spcAft>
            </a:pPr>
            <a:r>
              <a:rPr sz="850" b="0" i="0">
                <a:solidFill>
                  <a:srgbClr val="8490A2"/>
                </a:solidFill>
                <a:latin typeface="Segoe UI"/>
              </a:rPr>
              <a:t>08:12</a:t>
            </a:r>
          </a:p>
        </p:txBody>
      </p:sp>
      <p:sp>
        <p:nvSpPr>
          <p:cNvPr id="29" name="Rounded Rectangle 28"/>
          <p:cNvSpPr/>
          <p:nvPr/>
        </p:nvSpPr>
        <p:spPr>
          <a:xfrm>
            <a:off x="10002638" y="2432853"/>
            <a:ext cx="791684" cy="1115019"/>
          </a:xfrm>
          <a:prstGeom prst="roundRect">
            <a:avLst>
              <a:gd name="adj" fmla="val 16000"/>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9938630" y="2368845"/>
            <a:ext cx="919700" cy="1179027"/>
          </a:xfrm>
          <a:prstGeom prst="roundRect">
            <a:avLst>
              <a:gd name="adj" fmla="val 16000"/>
            </a:avLst>
          </a:prstGeom>
          <a:noFill/>
          <a:ln w="20320">
            <a:solidFill>
              <a:srgbClr val="1027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895560" y="2195109"/>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C43D2E"/>
                </a:solidFill>
                <a:latin typeface="Segoe UI"/>
              </a:rPr>
              <a:t>91%</a:t>
            </a:r>
          </a:p>
        </p:txBody>
      </p:sp>
      <p:sp>
        <p:nvSpPr>
          <p:cNvPr id="32" name="TextBox 31"/>
          <p:cNvSpPr txBox="1"/>
          <p:nvPr/>
        </p:nvSpPr>
        <p:spPr>
          <a:xfrm>
            <a:off x="9831552" y="3630168"/>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950" b="1" i="0">
                <a:solidFill>
                  <a:srgbClr val="10275C"/>
                </a:solidFill>
                <a:latin typeface="Segoe UI"/>
              </a:rPr>
              <a:t>YOUR STOP</a:t>
            </a:r>
          </a:p>
          <a:p>
            <a:pPr algn="ctr">
              <a:lnSpc>
                <a:spcPct val="110000"/>
              </a:lnSpc>
              <a:spcBef>
                <a:spcPts val="0"/>
              </a:spcBef>
              <a:spcAft>
                <a:spcPts val="0"/>
              </a:spcAft>
            </a:pPr>
            <a:r>
              <a:rPr sz="850" b="0" i="0">
                <a:solidFill>
                  <a:srgbClr val="8490A2"/>
                </a:solidFill>
                <a:latin typeface="Segoe UI"/>
              </a:rPr>
              <a:t>08:19</a:t>
            </a:r>
          </a:p>
        </p:txBody>
      </p:sp>
      <p:sp>
        <p:nvSpPr>
          <p:cNvPr id="33" name="Rounded Rectangle 32"/>
          <p:cNvSpPr/>
          <p:nvPr/>
        </p:nvSpPr>
        <p:spPr>
          <a:xfrm>
            <a:off x="566928" y="4297680"/>
            <a:ext cx="5400903" cy="1663903"/>
          </a:xfrm>
          <a:prstGeom prst="roundRect">
            <a:avLst>
              <a:gd name="adj" fmla="val 5000"/>
            </a:avLst>
          </a:prstGeom>
          <a:solidFill>
            <a:srgbClr val="F5F7FA"/>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566928" y="4297680"/>
            <a:ext cx="45720" cy="1663903"/>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04672" y="4480560"/>
            <a:ext cx="4925415" cy="1298143"/>
          </a:xfrm>
          <a:prstGeom prst="rect">
            <a:avLst/>
          </a:prstGeom>
          <a:noFill/>
        </p:spPr>
        <p:txBody>
          <a:bodyPr wrap="square" lIns="0" rIns="0" tIns="0" bIns="0">
            <a:spAutoFit/>
          </a:bodyPr>
          <a:lstStyle/>
          <a:p>
            <a:pPr algn="l">
              <a:lnSpc>
                <a:spcPct val="124000"/>
              </a:lnSpc>
              <a:spcBef>
                <a:spcPts val="0"/>
              </a:spcBef>
              <a:spcAft>
                <a:spcPts val="600"/>
              </a:spcAft>
            </a:pPr>
            <a:r>
              <a:rPr sz="1050" b="1" i="0">
                <a:solidFill>
                  <a:srgbClr val="1B3F8B"/>
                </a:solidFill>
                <a:latin typeface="Segoe UI"/>
              </a:rPr>
              <a:t>PASSENGER</a:t>
            </a:r>
          </a:p>
          <a:p>
            <a:pPr algn="l">
              <a:lnSpc>
                <a:spcPct val="124000"/>
              </a:lnSpc>
              <a:spcBef>
                <a:spcPts val="0"/>
              </a:spcBef>
              <a:spcAft>
                <a:spcPts val="600"/>
              </a:spcAft>
            </a:pPr>
            <a:r>
              <a:rPr sz="1100" b="1">
                <a:solidFill>
                  <a:srgbClr val="1B3F8B"/>
                </a:solidFill>
                <a:latin typeface="Segoe UI"/>
              </a:rPr>
              <a:t>▪  </a:t>
            </a:r>
            <a:r>
              <a:rPr sz="1100" b="0">
                <a:solidFill>
                  <a:srgbClr val="4A5568"/>
                </a:solidFill>
                <a:latin typeface="Segoe UI"/>
              </a:rPr>
              <a:t>Route apps optimise for time, not for whether you can board.</a:t>
            </a:r>
          </a:p>
          <a:p>
            <a:pPr algn="l">
              <a:lnSpc>
                <a:spcPct val="124000"/>
              </a:lnSpc>
              <a:spcBef>
                <a:spcPts val="0"/>
              </a:spcBef>
              <a:spcAft>
                <a:spcPts val="600"/>
              </a:spcAft>
            </a:pPr>
            <a:r>
              <a:rPr sz="1100" b="1">
                <a:solidFill>
                  <a:srgbClr val="1B3F8B"/>
                </a:solidFill>
                <a:latin typeface="Segoe UI"/>
              </a:rPr>
              <a:t>▪  </a:t>
            </a:r>
            <a:r>
              <a:rPr sz="1100" b="0">
                <a:solidFill>
                  <a:srgbClr val="4A5568"/>
                </a:solidFill>
                <a:latin typeface="Segoe UI"/>
              </a:rPr>
              <a:t>No app answers “should I just leave 15 minutes later?”</a:t>
            </a:r>
          </a:p>
          <a:p>
            <a:pPr algn="l">
              <a:lnSpc>
                <a:spcPct val="124000"/>
              </a:lnSpc>
              <a:spcBef>
                <a:spcPts val="0"/>
              </a:spcBef>
              <a:spcAft>
                <a:spcPts val="600"/>
              </a:spcAft>
            </a:pPr>
            <a:r>
              <a:rPr sz="1100" b="1">
                <a:solidFill>
                  <a:srgbClr val="1B3F8B"/>
                </a:solidFill>
                <a:latin typeface="Segoe UI"/>
              </a:rPr>
              <a:t>▪  </a:t>
            </a:r>
            <a:r>
              <a:rPr sz="1100" b="0">
                <a:solidFill>
                  <a:srgbClr val="4A5568"/>
                </a:solidFill>
                <a:latin typeface="Segoe UI"/>
              </a:rPr>
              <a:t>A 30-min trip that is sometimes 50 looks identical to one that never varies.</a:t>
            </a:r>
          </a:p>
        </p:txBody>
      </p:sp>
      <p:sp>
        <p:nvSpPr>
          <p:cNvPr id="36" name="Rounded Rectangle 35"/>
          <p:cNvSpPr/>
          <p:nvPr/>
        </p:nvSpPr>
        <p:spPr>
          <a:xfrm>
            <a:off x="6223863" y="4297680"/>
            <a:ext cx="5400903" cy="1663903"/>
          </a:xfrm>
          <a:prstGeom prst="roundRect">
            <a:avLst>
              <a:gd name="adj" fmla="val 5000"/>
            </a:avLst>
          </a:prstGeom>
          <a:solidFill>
            <a:srgbClr val="F5F7FA"/>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6223863" y="4297680"/>
            <a:ext cx="45720" cy="1663903"/>
          </a:xfrm>
          <a:prstGeom prst="roundRect">
            <a:avLst>
              <a:gd name="adj" fmla="val 50000"/>
            </a:avLst>
          </a:prstGeom>
          <a:solidFill>
            <a:srgbClr val="E27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61607" y="4480560"/>
            <a:ext cx="4925415" cy="1298143"/>
          </a:xfrm>
          <a:prstGeom prst="rect">
            <a:avLst/>
          </a:prstGeom>
          <a:noFill/>
        </p:spPr>
        <p:txBody>
          <a:bodyPr wrap="square" lIns="0" rIns="0" tIns="0" bIns="0">
            <a:spAutoFit/>
          </a:bodyPr>
          <a:lstStyle/>
          <a:p>
            <a:pPr algn="l">
              <a:lnSpc>
                <a:spcPct val="124000"/>
              </a:lnSpc>
              <a:spcBef>
                <a:spcPts val="0"/>
              </a:spcBef>
              <a:spcAft>
                <a:spcPts val="600"/>
              </a:spcAft>
            </a:pPr>
            <a:r>
              <a:rPr sz="1050" b="1" i="0">
                <a:solidFill>
                  <a:srgbClr val="E2761B"/>
                </a:solidFill>
                <a:latin typeface="Segoe UI"/>
              </a:rPr>
              <a:t>OPERATOR</a:t>
            </a:r>
          </a:p>
          <a:p>
            <a:pPr algn="l">
              <a:lnSpc>
                <a:spcPct val="124000"/>
              </a:lnSpc>
              <a:spcBef>
                <a:spcPts val="0"/>
              </a:spcBef>
              <a:spcAft>
                <a:spcPts val="600"/>
              </a:spcAft>
            </a:pPr>
            <a:r>
              <a:rPr sz="1100" b="1">
                <a:solidFill>
                  <a:srgbClr val="E2761B"/>
                </a:solidFill>
                <a:latin typeface="Segoe UI"/>
              </a:rPr>
              <a:t>▪  </a:t>
            </a:r>
            <a:r>
              <a:rPr sz="1100" b="0">
                <a:solidFill>
                  <a:srgbClr val="4A5568"/>
                </a:solidFill>
                <a:latin typeface="Segoe UI"/>
              </a:rPr>
              <a:t>Control rooms see overcrowding only after the corridor has failed.</a:t>
            </a:r>
          </a:p>
          <a:p>
            <a:pPr algn="l">
              <a:lnSpc>
                <a:spcPct val="124000"/>
              </a:lnSpc>
              <a:spcBef>
                <a:spcPts val="0"/>
              </a:spcBef>
              <a:spcAft>
                <a:spcPts val="600"/>
              </a:spcAft>
            </a:pPr>
            <a:r>
              <a:rPr sz="1100" b="1">
                <a:solidFill>
                  <a:srgbClr val="E2761B"/>
                </a:solidFill>
                <a:latin typeface="Segoe UI"/>
              </a:rPr>
              <a:t>▪  </a:t>
            </a:r>
            <a:r>
              <a:rPr sz="1100" b="0">
                <a:solidFill>
                  <a:srgbClr val="4A5568"/>
                </a:solidFill>
                <a:latin typeface="Segoe UI"/>
              </a:rPr>
              <a:t>Adding a bus or changing headway is reactive, never quantified first.</a:t>
            </a:r>
          </a:p>
          <a:p>
            <a:pPr algn="l">
              <a:lnSpc>
                <a:spcPct val="124000"/>
              </a:lnSpc>
              <a:spcBef>
                <a:spcPts val="0"/>
              </a:spcBef>
              <a:spcAft>
                <a:spcPts val="600"/>
              </a:spcAft>
            </a:pPr>
            <a:r>
              <a:rPr sz="1100" b="1">
                <a:solidFill>
                  <a:srgbClr val="E2761B"/>
                </a:solidFill>
                <a:latin typeface="Segoe UI"/>
              </a:rPr>
              <a:t>▪  </a:t>
            </a:r>
            <a:r>
              <a:rPr sz="1100" b="0">
                <a:solidFill>
                  <a:srgbClr val="4A5568"/>
                </a:solidFill>
                <a:latin typeface="Segoe UI"/>
              </a:rPr>
              <a:t>No continuous record of where demand actually exceeded capacity.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10896"/>
            <a:ext cx="158496" cy="6858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25424" y="310896"/>
            <a:ext cx="158496" cy="68580"/>
          </a:xfrm>
          <a:prstGeom prst="rect">
            <a:avLst/>
          </a:prstGeom>
          <a:solidFill>
            <a:srgbClr val="102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83920" y="310896"/>
            <a:ext cx="158496" cy="6858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88720" y="256032"/>
            <a:ext cx="11057839" cy="237744"/>
          </a:xfrm>
          <a:prstGeom prst="rect">
            <a:avLst/>
          </a:prstGeom>
          <a:noFill/>
        </p:spPr>
        <p:txBody>
          <a:bodyPr wrap="square" lIns="0" rIns="0" tIns="0" bIns="0">
            <a:spAutoFit/>
          </a:bodyPr>
          <a:lstStyle/>
          <a:p>
            <a:pPr algn="l">
              <a:lnSpc>
                <a:spcPct val="122000"/>
              </a:lnSpc>
              <a:spcBef>
                <a:spcPts val="0"/>
              </a:spcBef>
              <a:spcAft>
                <a:spcPts val="0"/>
              </a:spcAft>
            </a:pPr>
            <a:r>
              <a:rPr sz="1000" b="1" i="0">
                <a:solidFill>
                  <a:srgbClr val="E2761B"/>
                </a:solidFill>
                <a:latin typeface="Segoe UI"/>
              </a:rPr>
              <a:t>OUR SOLUTION</a:t>
            </a:r>
          </a:p>
        </p:txBody>
      </p:sp>
      <p:sp>
        <p:nvSpPr>
          <p:cNvPr id="6" name="TextBox 5"/>
          <p:cNvSpPr txBox="1"/>
          <p:nvPr/>
        </p:nvSpPr>
        <p:spPr>
          <a:xfrm>
            <a:off x="566928" y="548640"/>
            <a:ext cx="11057839" cy="457200"/>
          </a:xfrm>
          <a:prstGeom prst="rect">
            <a:avLst/>
          </a:prstGeom>
          <a:noFill/>
        </p:spPr>
        <p:txBody>
          <a:bodyPr wrap="square" lIns="0" rIns="0" tIns="0" bIns="0">
            <a:spAutoFit/>
          </a:bodyPr>
          <a:lstStyle/>
          <a:p>
            <a:pPr algn="l">
              <a:lnSpc>
                <a:spcPct val="100000"/>
              </a:lnSpc>
              <a:spcBef>
                <a:spcPts val="0"/>
              </a:spcBef>
              <a:spcAft>
                <a:spcPts val="0"/>
              </a:spcAft>
            </a:pPr>
            <a:r>
              <a:rPr sz="2400" b="1" i="0">
                <a:solidFill>
                  <a:srgbClr val="10275C"/>
                </a:solidFill>
                <a:latin typeface="Segoe UI"/>
              </a:rPr>
              <a:t>A prediction-to-decision loop, not another tracking map</a:t>
            </a:r>
          </a:p>
        </p:txBody>
      </p:sp>
      <p:sp>
        <p:nvSpPr>
          <p:cNvPr id="7" name="TextBox 6"/>
          <p:cNvSpPr txBox="1"/>
          <p:nvPr/>
        </p:nvSpPr>
        <p:spPr>
          <a:xfrm>
            <a:off x="566928" y="1060704"/>
            <a:ext cx="10783519" cy="292608"/>
          </a:xfrm>
          <a:prstGeom prst="rect">
            <a:avLst/>
          </a:prstGeom>
          <a:noFill/>
        </p:spPr>
        <p:txBody>
          <a:bodyPr wrap="square" lIns="0" rIns="0" tIns="0" bIns="0">
            <a:spAutoFit/>
          </a:bodyPr>
          <a:lstStyle/>
          <a:p>
            <a:pPr algn="l">
              <a:lnSpc>
                <a:spcPct val="122000"/>
              </a:lnSpc>
              <a:spcBef>
                <a:spcPts val="0"/>
              </a:spcBef>
              <a:spcAft>
                <a:spcPts val="0"/>
              </a:spcAft>
            </a:pPr>
            <a:r>
              <a:rPr sz="1250" b="0" i="0">
                <a:solidFill>
                  <a:srgbClr val="8490A2"/>
                </a:solidFill>
                <a:latin typeface="Segoe UI"/>
              </a:rPr>
              <a:t>Routing will stay deterministic and explainable. Machine learning predicts the conditions those routes will face.</a:t>
            </a:r>
          </a:p>
        </p:txBody>
      </p:sp>
      <p:sp>
        <p:nvSpPr>
          <p:cNvPr id="8" name="Rectangle 7"/>
          <p:cNvSpPr/>
          <p:nvPr/>
        </p:nvSpPr>
        <p:spPr>
          <a:xfrm>
            <a:off x="566928" y="1371600"/>
            <a:ext cx="11057839" cy="952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66928" y="6419088"/>
            <a:ext cx="10509199" cy="201168"/>
          </a:xfrm>
          <a:prstGeom prst="rect">
            <a:avLst/>
          </a:prstGeom>
          <a:noFill/>
        </p:spPr>
        <p:txBody>
          <a:bodyPr wrap="square" lIns="0" rIns="0" tIns="0" bIns="0">
            <a:spAutoFit/>
          </a:bodyPr>
          <a:lstStyle/>
          <a:p>
            <a:pPr algn="l">
              <a:lnSpc>
                <a:spcPct val="122000"/>
              </a:lnSpc>
              <a:spcBef>
                <a:spcPts val="0"/>
              </a:spcBef>
              <a:spcAft>
                <a:spcPts val="0"/>
              </a:spcAft>
            </a:pPr>
            <a:r>
              <a:rPr sz="850" b="0" i="0">
                <a:solidFill>
                  <a:srgbClr val="8490A2"/>
                </a:solidFill>
                <a:latin typeface="Segoe UI"/>
              </a:rPr>
              <a:t>PRAVAAH  |  Intelligent Public Transport Crowding &amp; Route Prediction</a:t>
            </a:r>
          </a:p>
        </p:txBody>
      </p:sp>
      <p:sp>
        <p:nvSpPr>
          <p:cNvPr id="10" name="TextBox 9"/>
          <p:cNvSpPr txBox="1"/>
          <p:nvPr/>
        </p:nvSpPr>
        <p:spPr>
          <a:xfrm>
            <a:off x="11076127" y="6419088"/>
            <a:ext cx="548640" cy="201168"/>
          </a:xfrm>
          <a:prstGeom prst="rect">
            <a:avLst/>
          </a:prstGeom>
          <a:noFill/>
        </p:spPr>
        <p:txBody>
          <a:bodyPr wrap="square" lIns="0" rIns="0" tIns="0" bIns="0">
            <a:spAutoFit/>
          </a:bodyPr>
          <a:lstStyle/>
          <a:p>
            <a:pPr algn="r">
              <a:lnSpc>
                <a:spcPct val="122000"/>
              </a:lnSpc>
              <a:spcBef>
                <a:spcPts val="0"/>
              </a:spcBef>
              <a:spcAft>
                <a:spcPts val="0"/>
              </a:spcAft>
            </a:pPr>
            <a:r>
              <a:rPr sz="900" b="1" i="0">
                <a:solidFill>
                  <a:srgbClr val="10275C"/>
                </a:solidFill>
                <a:latin typeface="Segoe UI"/>
              </a:rPr>
              <a:t>3</a:t>
            </a:r>
          </a:p>
        </p:txBody>
      </p:sp>
      <p:sp>
        <p:nvSpPr>
          <p:cNvPr id="11" name="Rounded Rectangle 10"/>
          <p:cNvSpPr/>
          <p:nvPr/>
        </p:nvSpPr>
        <p:spPr>
          <a:xfrm>
            <a:off x="566928" y="1609344"/>
            <a:ext cx="1992111" cy="1600200"/>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66928" y="1609344"/>
            <a:ext cx="45720" cy="1600200"/>
          </a:xfrm>
          <a:prstGeom prst="roundRect">
            <a:avLst>
              <a:gd name="adj" fmla="val 50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49808" y="1755648"/>
            <a:ext cx="1662927" cy="1325880"/>
          </a:xfrm>
          <a:prstGeom prst="rect">
            <a:avLst/>
          </a:prstGeom>
          <a:noFill/>
        </p:spPr>
        <p:txBody>
          <a:bodyPr wrap="square" lIns="0" rIns="0" tIns="0" bIns="0">
            <a:spAutoFit/>
          </a:bodyPr>
          <a:lstStyle/>
          <a:p>
            <a:pPr algn="l">
              <a:lnSpc>
                <a:spcPct val="122000"/>
              </a:lnSpc>
              <a:spcBef>
                <a:spcPts val="0"/>
              </a:spcBef>
              <a:spcAft>
                <a:spcPts val="700"/>
              </a:spcAft>
            </a:pPr>
            <a:r>
              <a:rPr sz="1250" b="1" i="0">
                <a:solidFill>
                  <a:srgbClr val="138808"/>
                </a:solidFill>
                <a:latin typeface="Segoe UI"/>
              </a:rPr>
              <a:t>01  COLLECT</a:t>
            </a:r>
          </a:p>
          <a:p>
            <a:pPr algn="l">
              <a:lnSpc>
                <a:spcPct val="122000"/>
              </a:lnSpc>
              <a:spcBef>
                <a:spcPts val="0"/>
              </a:spcBef>
              <a:spcAft>
                <a:spcPts val="500"/>
              </a:spcAft>
            </a:pPr>
            <a:r>
              <a:rPr sz="1100" b="0" i="0">
                <a:solidFill>
                  <a:srgbClr val="4A5568"/>
                </a:solidFill>
                <a:latin typeface="Segoe UI"/>
              </a:rPr>
              <a:t>Timetable, live bus positions, on-board crowd levels and weather.</a:t>
            </a:r>
          </a:p>
        </p:txBody>
      </p:sp>
      <p:sp>
        <p:nvSpPr>
          <p:cNvPr id="14" name="Right Arrow 13"/>
          <p:cNvSpPr/>
          <p:nvPr/>
        </p:nvSpPr>
        <p:spPr>
          <a:xfrm>
            <a:off x="2623047" y="2336292"/>
            <a:ext cx="146304" cy="146304"/>
          </a:xfrm>
          <a:prstGeom prst="rightArrow">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833359" y="1609344"/>
            <a:ext cx="1992111" cy="1600200"/>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2833359" y="1609344"/>
            <a:ext cx="45720" cy="1600200"/>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016239" y="1755648"/>
            <a:ext cx="1662927" cy="1325880"/>
          </a:xfrm>
          <a:prstGeom prst="rect">
            <a:avLst/>
          </a:prstGeom>
          <a:noFill/>
        </p:spPr>
        <p:txBody>
          <a:bodyPr wrap="square" lIns="0" rIns="0" tIns="0" bIns="0">
            <a:spAutoFit/>
          </a:bodyPr>
          <a:lstStyle/>
          <a:p>
            <a:pPr algn="l">
              <a:lnSpc>
                <a:spcPct val="122000"/>
              </a:lnSpc>
              <a:spcBef>
                <a:spcPts val="0"/>
              </a:spcBef>
              <a:spcAft>
                <a:spcPts val="700"/>
              </a:spcAft>
            </a:pPr>
            <a:r>
              <a:rPr sz="1250" b="1" i="0">
                <a:solidFill>
                  <a:srgbClr val="1B3F8B"/>
                </a:solidFill>
                <a:latin typeface="Segoe UI"/>
              </a:rPr>
              <a:t>02  FORECAST</a:t>
            </a:r>
          </a:p>
          <a:p>
            <a:pPr algn="l">
              <a:lnSpc>
                <a:spcPct val="122000"/>
              </a:lnSpc>
              <a:spcBef>
                <a:spcPts val="0"/>
              </a:spcBef>
              <a:spcAft>
                <a:spcPts val="500"/>
              </a:spcAft>
            </a:pPr>
            <a:r>
              <a:rPr sz="1100" b="0" i="0">
                <a:solidFill>
                  <a:srgbClr val="4A5568"/>
                </a:solidFill>
                <a:latin typeface="Segoe UI"/>
              </a:rPr>
              <a:t>How full each bus will be, and when it will arrive, at every stop ahead.</a:t>
            </a:r>
          </a:p>
        </p:txBody>
      </p:sp>
      <p:sp>
        <p:nvSpPr>
          <p:cNvPr id="18" name="Right Arrow 17"/>
          <p:cNvSpPr/>
          <p:nvPr/>
        </p:nvSpPr>
        <p:spPr>
          <a:xfrm>
            <a:off x="4889478" y="2336292"/>
            <a:ext cx="146304" cy="146304"/>
          </a:xfrm>
          <a:prstGeom prst="rightArrow">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99790" y="1609344"/>
            <a:ext cx="1992111" cy="1600200"/>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5099790" y="1609344"/>
            <a:ext cx="45720" cy="1600200"/>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282670" y="1755648"/>
            <a:ext cx="1662927" cy="1325880"/>
          </a:xfrm>
          <a:prstGeom prst="rect">
            <a:avLst/>
          </a:prstGeom>
          <a:noFill/>
        </p:spPr>
        <p:txBody>
          <a:bodyPr wrap="square" lIns="0" rIns="0" tIns="0" bIns="0">
            <a:spAutoFit/>
          </a:bodyPr>
          <a:lstStyle/>
          <a:p>
            <a:pPr algn="l">
              <a:lnSpc>
                <a:spcPct val="122000"/>
              </a:lnSpc>
              <a:spcBef>
                <a:spcPts val="0"/>
              </a:spcBef>
              <a:spcAft>
                <a:spcPts val="700"/>
              </a:spcAft>
            </a:pPr>
            <a:r>
              <a:rPr sz="1250" b="1" i="0">
                <a:solidFill>
                  <a:srgbClr val="1B3F8B"/>
                </a:solidFill>
                <a:latin typeface="Segoe UI"/>
              </a:rPr>
              <a:t>03  LIST ROUTES</a:t>
            </a:r>
          </a:p>
          <a:p>
            <a:pPr algn="l">
              <a:lnSpc>
                <a:spcPct val="122000"/>
              </a:lnSpc>
              <a:spcBef>
                <a:spcPts val="0"/>
              </a:spcBef>
              <a:spcAft>
                <a:spcPts val="500"/>
              </a:spcAft>
            </a:pPr>
            <a:r>
              <a:rPr sz="1100" b="0" i="0">
                <a:solidFill>
                  <a:srgbClr val="4A5568"/>
                </a:solidFill>
                <a:latin typeface="Segoe UI"/>
              </a:rPr>
              <a:t>Every possible way to make this journey, including transfers.</a:t>
            </a:r>
          </a:p>
        </p:txBody>
      </p:sp>
      <p:sp>
        <p:nvSpPr>
          <p:cNvPr id="22" name="Right Arrow 21"/>
          <p:cNvSpPr/>
          <p:nvPr/>
        </p:nvSpPr>
        <p:spPr>
          <a:xfrm>
            <a:off x="7155909" y="2336292"/>
            <a:ext cx="146304" cy="146304"/>
          </a:xfrm>
          <a:prstGeom prst="rightArrow">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66221" y="1609344"/>
            <a:ext cx="1992111" cy="1600200"/>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7366221" y="1609344"/>
            <a:ext cx="45720" cy="1600200"/>
          </a:xfrm>
          <a:prstGeom prst="roundRect">
            <a:avLst>
              <a:gd name="adj" fmla="val 50000"/>
            </a:avLst>
          </a:prstGeom>
          <a:solidFill>
            <a:srgbClr val="E27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549101" y="1755648"/>
            <a:ext cx="1662927" cy="1325880"/>
          </a:xfrm>
          <a:prstGeom prst="rect">
            <a:avLst/>
          </a:prstGeom>
          <a:noFill/>
        </p:spPr>
        <p:txBody>
          <a:bodyPr wrap="square" lIns="0" rIns="0" tIns="0" bIns="0">
            <a:spAutoFit/>
          </a:bodyPr>
          <a:lstStyle/>
          <a:p>
            <a:pPr algn="l">
              <a:lnSpc>
                <a:spcPct val="122000"/>
              </a:lnSpc>
              <a:spcBef>
                <a:spcPts val="0"/>
              </a:spcBef>
              <a:spcAft>
                <a:spcPts val="700"/>
              </a:spcAft>
            </a:pPr>
            <a:r>
              <a:rPr sz="1250" b="1" i="0">
                <a:solidFill>
                  <a:srgbClr val="E2761B"/>
                </a:solidFill>
                <a:latin typeface="Segoe UI"/>
              </a:rPr>
              <a:t>04  RANK</a:t>
            </a:r>
          </a:p>
          <a:p>
            <a:pPr algn="l">
              <a:lnSpc>
                <a:spcPct val="122000"/>
              </a:lnSpc>
              <a:spcBef>
                <a:spcPts val="0"/>
              </a:spcBef>
              <a:spcAft>
                <a:spcPts val="500"/>
              </a:spcAft>
            </a:pPr>
            <a:r>
              <a:rPr sz="1100" b="0" i="0">
                <a:solidFill>
                  <a:srgbClr val="4A5568"/>
                </a:solidFill>
                <a:latin typeface="Segoe UI"/>
              </a:rPr>
              <a:t>Score each route on time, crowding, delay risk and the traveller's priority.</a:t>
            </a:r>
          </a:p>
        </p:txBody>
      </p:sp>
      <p:sp>
        <p:nvSpPr>
          <p:cNvPr id="26" name="Right Arrow 25"/>
          <p:cNvSpPr/>
          <p:nvPr/>
        </p:nvSpPr>
        <p:spPr>
          <a:xfrm>
            <a:off x="9422340" y="2336292"/>
            <a:ext cx="146304" cy="146304"/>
          </a:xfrm>
          <a:prstGeom prst="rightArrow">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632652" y="1609344"/>
            <a:ext cx="1992111" cy="1600200"/>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9632652" y="1609344"/>
            <a:ext cx="45720" cy="1600200"/>
          </a:xfrm>
          <a:prstGeom prst="roundRect">
            <a:avLst>
              <a:gd name="adj" fmla="val 50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815532" y="1755648"/>
            <a:ext cx="1662927" cy="1325880"/>
          </a:xfrm>
          <a:prstGeom prst="rect">
            <a:avLst/>
          </a:prstGeom>
          <a:noFill/>
        </p:spPr>
        <p:txBody>
          <a:bodyPr wrap="square" lIns="0" rIns="0" tIns="0" bIns="0">
            <a:spAutoFit/>
          </a:bodyPr>
          <a:lstStyle/>
          <a:p>
            <a:pPr algn="l">
              <a:lnSpc>
                <a:spcPct val="122000"/>
              </a:lnSpc>
              <a:spcBef>
                <a:spcPts val="0"/>
              </a:spcBef>
              <a:spcAft>
                <a:spcPts val="700"/>
              </a:spcAft>
            </a:pPr>
            <a:r>
              <a:rPr sz="1250" b="1" i="0">
                <a:solidFill>
                  <a:srgbClr val="138808"/>
                </a:solidFill>
                <a:latin typeface="Segoe UI"/>
              </a:rPr>
              <a:t>05  ADAPT</a:t>
            </a:r>
          </a:p>
          <a:p>
            <a:pPr algn="l">
              <a:lnSpc>
                <a:spcPct val="122000"/>
              </a:lnSpc>
              <a:spcBef>
                <a:spcPts val="0"/>
              </a:spcBef>
              <a:spcAft>
                <a:spcPts val="500"/>
              </a:spcAft>
            </a:pPr>
            <a:r>
              <a:rPr sz="1100" b="0" i="0">
                <a:solidFill>
                  <a:srgbClr val="4A5568"/>
                </a:solidFill>
                <a:latin typeface="Segoe UI"/>
              </a:rPr>
              <a:t>Repeat as new data arrives, and speak up only if a better route appears.</a:t>
            </a:r>
          </a:p>
        </p:txBody>
      </p:sp>
      <p:sp>
        <p:nvSpPr>
          <p:cNvPr id="30" name="Rectangle 29"/>
          <p:cNvSpPr/>
          <p:nvPr/>
        </p:nvSpPr>
        <p:spPr>
          <a:xfrm>
            <a:off x="3829414" y="3630168"/>
            <a:ext cx="6799293" cy="1905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829414" y="3355848"/>
            <a:ext cx="19050" cy="292608"/>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10628707" y="3355848"/>
            <a:ext cx="19050" cy="292608"/>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Up Arrow 32"/>
          <p:cNvSpPr/>
          <p:nvPr/>
        </p:nvSpPr>
        <p:spPr>
          <a:xfrm>
            <a:off x="3747118" y="3319272"/>
            <a:ext cx="182880" cy="182880"/>
          </a:xfrm>
          <a:prstGeom prst="upArrow">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12294" y="3685032"/>
            <a:ext cx="3657600" cy="219456"/>
          </a:xfrm>
          <a:prstGeom prst="rect">
            <a:avLst/>
          </a:prstGeom>
          <a:noFill/>
        </p:spPr>
        <p:txBody>
          <a:bodyPr wrap="square" lIns="0" rIns="0" tIns="0" bIns="0">
            <a:spAutoFit/>
          </a:bodyPr>
          <a:lstStyle/>
          <a:p>
            <a:pPr algn="l">
              <a:lnSpc>
                <a:spcPct val="122000"/>
              </a:lnSpc>
              <a:spcBef>
                <a:spcPts val="0"/>
              </a:spcBef>
              <a:spcAft>
                <a:spcPts val="0"/>
              </a:spcAft>
            </a:pPr>
            <a:r>
              <a:rPr sz="950" b="1" i="0">
                <a:solidFill>
                  <a:srgbClr val="E2761B"/>
                </a:solidFill>
                <a:latin typeface="Segoe UI"/>
              </a:rPr>
              <a:t>every new position and crowd reading starts the loop again</a:t>
            </a:r>
          </a:p>
        </p:txBody>
      </p:sp>
      <p:sp>
        <p:nvSpPr>
          <p:cNvPr id="35" name="Rounded Rectangle 34"/>
          <p:cNvSpPr/>
          <p:nvPr/>
        </p:nvSpPr>
        <p:spPr>
          <a:xfrm>
            <a:off x="566928" y="4478274"/>
            <a:ext cx="11057839" cy="1145286"/>
          </a:xfrm>
          <a:prstGeom prst="roundRect">
            <a:avLst>
              <a:gd name="adj" fmla="val 5000"/>
            </a:avLst>
          </a:prstGeom>
          <a:solidFill>
            <a:srgbClr val="E9EEF5"/>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566928" y="4478274"/>
            <a:ext cx="45720" cy="1145286"/>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04672" y="4679442"/>
            <a:ext cx="10582351" cy="742950"/>
          </a:xfrm>
          <a:prstGeom prst="rect">
            <a:avLst/>
          </a:prstGeom>
          <a:noFill/>
        </p:spPr>
        <p:txBody>
          <a:bodyPr wrap="square" lIns="0" rIns="0" tIns="0" bIns="0">
            <a:spAutoFit/>
          </a:bodyPr>
          <a:lstStyle/>
          <a:p>
            <a:pPr algn="l">
              <a:lnSpc>
                <a:spcPct val="130000"/>
              </a:lnSpc>
              <a:spcBef>
                <a:spcPts val="0"/>
              </a:spcBef>
              <a:spcAft>
                <a:spcPts val="0"/>
              </a:spcAft>
            </a:pPr>
            <a:r>
              <a:rPr sz="1250" b="1">
                <a:solidFill>
                  <a:srgbClr val="1B3F8B"/>
                </a:solidFill>
                <a:latin typeface="Segoe UI"/>
              </a:rPr>
              <a:t>Where the intelligence sits   </a:t>
            </a:r>
            <a:r>
              <a:rPr sz="1150" b="0">
                <a:solidFill>
                  <a:srgbClr val="4A5568"/>
                </a:solidFill>
                <a:latin typeface="Segoe UI"/>
              </a:rPr>
              <a:t>Steps 1, 3 and 5 are engineering. Step 2 is the learning: predicting how crowding and delay build up along a route and across the hours of the day, and stating how confident it is in each figure. Step 4 then applies a scoring rule a person can read, which is why every recommendation can explain itself.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10896"/>
            <a:ext cx="158496" cy="6858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25424" y="310896"/>
            <a:ext cx="158496" cy="68580"/>
          </a:xfrm>
          <a:prstGeom prst="rect">
            <a:avLst/>
          </a:prstGeom>
          <a:solidFill>
            <a:srgbClr val="102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83920" y="310896"/>
            <a:ext cx="158496" cy="6858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88720" y="256032"/>
            <a:ext cx="11057839" cy="237744"/>
          </a:xfrm>
          <a:prstGeom prst="rect">
            <a:avLst/>
          </a:prstGeom>
          <a:noFill/>
        </p:spPr>
        <p:txBody>
          <a:bodyPr wrap="square" lIns="0" rIns="0" tIns="0" bIns="0">
            <a:spAutoFit/>
          </a:bodyPr>
          <a:lstStyle/>
          <a:p>
            <a:pPr algn="l">
              <a:lnSpc>
                <a:spcPct val="122000"/>
              </a:lnSpc>
              <a:spcBef>
                <a:spcPts val="0"/>
              </a:spcBef>
              <a:spcAft>
                <a:spcPts val="0"/>
              </a:spcAft>
            </a:pPr>
            <a:r>
              <a:rPr sz="1000" b="1" i="0">
                <a:solidFill>
                  <a:srgbClr val="E2761B"/>
                </a:solidFill>
                <a:latin typeface="Segoe UI"/>
              </a:rPr>
              <a:t>PASSENGER EXPERIENCE</a:t>
            </a:r>
          </a:p>
        </p:txBody>
      </p:sp>
      <p:sp>
        <p:nvSpPr>
          <p:cNvPr id="6" name="TextBox 5"/>
          <p:cNvSpPr txBox="1"/>
          <p:nvPr/>
        </p:nvSpPr>
        <p:spPr>
          <a:xfrm>
            <a:off x="566928" y="548640"/>
            <a:ext cx="11057839" cy="457200"/>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0275C"/>
                </a:solidFill>
                <a:latin typeface="Segoe UI"/>
              </a:rPr>
              <a:t>The same trip, three honest answers</a:t>
            </a:r>
          </a:p>
        </p:txBody>
      </p:sp>
      <p:sp>
        <p:nvSpPr>
          <p:cNvPr id="7" name="TextBox 6"/>
          <p:cNvSpPr txBox="1"/>
          <p:nvPr/>
        </p:nvSpPr>
        <p:spPr>
          <a:xfrm>
            <a:off x="566928" y="1060704"/>
            <a:ext cx="10783519" cy="292608"/>
          </a:xfrm>
          <a:prstGeom prst="rect">
            <a:avLst/>
          </a:prstGeom>
          <a:noFill/>
        </p:spPr>
        <p:txBody>
          <a:bodyPr wrap="square" lIns="0" rIns="0" tIns="0" bIns="0">
            <a:spAutoFit/>
          </a:bodyPr>
          <a:lstStyle/>
          <a:p>
            <a:pPr algn="l">
              <a:lnSpc>
                <a:spcPct val="122000"/>
              </a:lnSpc>
              <a:spcBef>
                <a:spcPts val="0"/>
              </a:spcBef>
              <a:spcAft>
                <a:spcPts val="0"/>
              </a:spcAft>
            </a:pPr>
            <a:r>
              <a:rPr sz="1250" b="0" i="0">
                <a:solidFill>
                  <a:srgbClr val="8490A2"/>
                </a:solidFill>
                <a:latin typeface="Segoe UI"/>
              </a:rPr>
              <a:t>Every option shows predicted crowd at your stop, delay risk and a plain-language reason.</a:t>
            </a:r>
          </a:p>
        </p:txBody>
      </p:sp>
      <p:sp>
        <p:nvSpPr>
          <p:cNvPr id="8" name="Rectangle 7"/>
          <p:cNvSpPr/>
          <p:nvPr/>
        </p:nvSpPr>
        <p:spPr>
          <a:xfrm>
            <a:off x="566928" y="1371600"/>
            <a:ext cx="11057839" cy="952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66928" y="6419088"/>
            <a:ext cx="10509199" cy="201168"/>
          </a:xfrm>
          <a:prstGeom prst="rect">
            <a:avLst/>
          </a:prstGeom>
          <a:noFill/>
        </p:spPr>
        <p:txBody>
          <a:bodyPr wrap="square" lIns="0" rIns="0" tIns="0" bIns="0">
            <a:spAutoFit/>
          </a:bodyPr>
          <a:lstStyle/>
          <a:p>
            <a:pPr algn="l">
              <a:lnSpc>
                <a:spcPct val="122000"/>
              </a:lnSpc>
              <a:spcBef>
                <a:spcPts val="0"/>
              </a:spcBef>
              <a:spcAft>
                <a:spcPts val="0"/>
              </a:spcAft>
            </a:pPr>
            <a:r>
              <a:rPr sz="850" b="0" i="0">
                <a:solidFill>
                  <a:srgbClr val="8490A2"/>
                </a:solidFill>
                <a:latin typeface="Segoe UI"/>
              </a:rPr>
              <a:t>PRAVAAH  |  Intelligent Public Transport Crowding &amp; Route Prediction</a:t>
            </a:r>
          </a:p>
        </p:txBody>
      </p:sp>
      <p:sp>
        <p:nvSpPr>
          <p:cNvPr id="10" name="TextBox 9"/>
          <p:cNvSpPr txBox="1"/>
          <p:nvPr/>
        </p:nvSpPr>
        <p:spPr>
          <a:xfrm>
            <a:off x="11076127" y="6419088"/>
            <a:ext cx="548640" cy="201168"/>
          </a:xfrm>
          <a:prstGeom prst="rect">
            <a:avLst/>
          </a:prstGeom>
          <a:noFill/>
        </p:spPr>
        <p:txBody>
          <a:bodyPr wrap="square" lIns="0" rIns="0" tIns="0" bIns="0">
            <a:spAutoFit/>
          </a:bodyPr>
          <a:lstStyle/>
          <a:p>
            <a:pPr algn="r">
              <a:lnSpc>
                <a:spcPct val="122000"/>
              </a:lnSpc>
              <a:spcBef>
                <a:spcPts val="0"/>
              </a:spcBef>
              <a:spcAft>
                <a:spcPts val="0"/>
              </a:spcAft>
            </a:pPr>
            <a:r>
              <a:rPr sz="900" b="1" i="0">
                <a:solidFill>
                  <a:srgbClr val="10275C"/>
                </a:solidFill>
                <a:latin typeface="Segoe UI"/>
              </a:rPr>
              <a:t>4</a:t>
            </a:r>
          </a:p>
        </p:txBody>
      </p:sp>
      <p:graphicFrame>
        <p:nvGraphicFramePr>
          <p:cNvPr id="11" name="Table 10"/>
          <p:cNvGraphicFramePr>
            <a:graphicFrameLocks noGrp="1"/>
          </p:cNvGraphicFramePr>
          <p:nvPr/>
        </p:nvGraphicFramePr>
        <p:xfrm>
          <a:off x="566928" y="1609344"/>
          <a:ext cx="5989320" cy="1426464"/>
        </p:xfrm>
        <a:graphic>
          <a:graphicData uri="http://schemas.openxmlformats.org/drawingml/2006/table">
            <a:tbl>
              <a:tblPr firstRow="0" bandRow="0">
                <a:tableStyleId>{5C22544A-7EE6-4342-B048-85BDC9FD1C3A}</a:tableStyleId>
              </a:tblPr>
              <a:tblGrid>
                <a:gridCol w="932688"/>
                <a:gridCol w="841248"/>
                <a:gridCol w="1965960"/>
                <a:gridCol w="1005840"/>
                <a:gridCol w="1243584"/>
              </a:tblGrid>
              <a:tr h="329184">
                <a:tc>
                  <a:txBody>
                    <a:bodyPr wrap="square"/>
                    <a:lstStyle/>
                    <a:p>
                      <a:pPr algn="l"/>
                      <a:r>
                        <a:rPr sz="1000" b="1">
                          <a:solidFill>
                            <a:srgbClr val="FFFFFF"/>
                          </a:solidFill>
                          <a:latin typeface="Segoe UI"/>
                        </a:rPr>
                        <a:t>Option</a:t>
                      </a:r>
                    </a:p>
                  </a:txBody>
                  <a:tcPr anchor="ctr" marL="91440" marR="73152" marT="36576" marB="36576">
                    <a:solidFill>
                      <a:srgbClr val="10275C"/>
                    </a:solidFill>
                  </a:tcPr>
                </a:tc>
                <a:tc>
                  <a:txBody>
                    <a:bodyPr wrap="square"/>
                    <a:lstStyle/>
                    <a:p>
                      <a:pPr algn="l"/>
                      <a:r>
                        <a:rPr sz="1000" b="1">
                          <a:solidFill>
                            <a:srgbClr val="FFFFFF"/>
                          </a:solidFill>
                          <a:latin typeface="Segoe UI"/>
                        </a:rPr>
                        <a:t>Travel</a:t>
                      </a:r>
                    </a:p>
                  </a:txBody>
                  <a:tcPr anchor="ctr" marL="91440" marR="73152" marT="36576" marB="36576">
                    <a:solidFill>
                      <a:srgbClr val="10275C"/>
                    </a:solidFill>
                  </a:tcPr>
                </a:tc>
                <a:tc>
                  <a:txBody>
                    <a:bodyPr wrap="square"/>
                    <a:lstStyle/>
                    <a:p>
                      <a:pPr algn="l"/>
                      <a:r>
                        <a:rPr sz="1000" b="1">
                          <a:solidFill>
                            <a:srgbClr val="FFFFFF"/>
                          </a:solidFill>
                          <a:latin typeface="Segoe UI"/>
                        </a:rPr>
                        <a:t>Crowd at YOUR stop</a:t>
                      </a:r>
                    </a:p>
                  </a:txBody>
                  <a:tcPr anchor="ctr" marL="91440" marR="73152" marT="36576" marB="36576">
                    <a:solidFill>
                      <a:srgbClr val="10275C"/>
                    </a:solidFill>
                  </a:tcPr>
                </a:tc>
                <a:tc>
                  <a:txBody>
                    <a:bodyPr wrap="square"/>
                    <a:lstStyle/>
                    <a:p>
                      <a:pPr algn="l"/>
                      <a:r>
                        <a:rPr sz="1000" b="1">
                          <a:solidFill>
                            <a:srgbClr val="FFFFFF"/>
                          </a:solidFill>
                          <a:latin typeface="Segoe UI"/>
                        </a:rPr>
                        <a:t>Delay risk</a:t>
                      </a:r>
                    </a:p>
                  </a:txBody>
                  <a:tcPr anchor="ctr" marL="91440" marR="73152" marT="36576" marB="36576">
                    <a:solidFill>
                      <a:srgbClr val="10275C"/>
                    </a:solidFill>
                  </a:tcPr>
                </a:tc>
                <a:tc>
                  <a:txBody>
                    <a:bodyPr wrap="square"/>
                    <a:lstStyle/>
                    <a:p>
                      <a:pPr algn="l"/>
                      <a:r>
                        <a:rPr sz="1000" b="1">
                          <a:solidFill>
                            <a:srgbClr val="FFFFFF"/>
                          </a:solidFill>
                          <a:latin typeface="Segoe UI"/>
                        </a:rPr>
                        <a:t>Verdict</a:t>
                      </a:r>
                    </a:p>
                  </a:txBody>
                  <a:tcPr anchor="ctr" marL="91440" marR="73152" marT="36576" marB="36576">
                    <a:solidFill>
                      <a:srgbClr val="10275C"/>
                    </a:solidFill>
                  </a:tcPr>
                </a:tc>
              </a:tr>
              <a:tr h="365760">
                <a:tc>
                  <a:txBody>
                    <a:bodyPr wrap="square"/>
                    <a:lstStyle/>
                    <a:p>
                      <a:pPr algn="l"/>
                      <a:r>
                        <a:rPr sz="1050" b="1">
                          <a:solidFill>
                            <a:srgbClr val="4A5568"/>
                          </a:solidFill>
                          <a:latin typeface="Segoe UI"/>
                        </a:rPr>
                        <a:t>Bus 14</a:t>
                      </a:r>
                    </a:p>
                  </a:txBody>
                  <a:tcPr anchor="ctr" marL="91440" marR="73152" marT="36576" marB="36576">
                    <a:solidFill>
                      <a:srgbClr val="F5F7FA"/>
                    </a:solidFill>
                  </a:tcPr>
                </a:tc>
                <a:tc>
                  <a:txBody>
                    <a:bodyPr wrap="square"/>
                    <a:lstStyle/>
                    <a:p>
                      <a:pPr algn="l"/>
                      <a:r>
                        <a:rPr sz="1050" b="0">
                          <a:solidFill>
                            <a:srgbClr val="4A5568"/>
                          </a:solidFill>
                          <a:latin typeface="Segoe UI"/>
                        </a:rPr>
                        <a:t>34 min</a:t>
                      </a:r>
                    </a:p>
                  </a:txBody>
                  <a:tcPr anchor="ctr" marL="91440" marR="73152" marT="36576" marB="36576">
                    <a:solidFill>
                      <a:srgbClr val="F5F7FA"/>
                    </a:solidFill>
                  </a:tcPr>
                </a:tc>
                <a:tc>
                  <a:txBody>
                    <a:bodyPr wrap="square"/>
                    <a:lstStyle/>
                    <a:p>
                      <a:pPr algn="l"/>
                      <a:r>
                        <a:rPr sz="1050" b="1">
                          <a:solidFill>
                            <a:srgbClr val="C43D2E"/>
                          </a:solidFill>
                          <a:latin typeface="Segoe UI"/>
                        </a:rPr>
                        <a:t>91%  very crowded</a:t>
                      </a:r>
                    </a:p>
                  </a:txBody>
                  <a:tcPr anchor="ctr" marL="91440" marR="73152" marT="36576" marB="36576">
                    <a:solidFill>
                      <a:srgbClr val="F5F7FA"/>
                    </a:solidFill>
                  </a:tcPr>
                </a:tc>
                <a:tc>
                  <a:txBody>
                    <a:bodyPr wrap="square"/>
                    <a:lstStyle/>
                    <a:p>
                      <a:pPr algn="l"/>
                      <a:r>
                        <a:rPr sz="1050" b="0">
                          <a:solidFill>
                            <a:srgbClr val="C43D2E"/>
                          </a:solidFill>
                          <a:latin typeface="Segoe UI"/>
                        </a:rPr>
                        <a:t>High</a:t>
                      </a:r>
                    </a:p>
                  </a:txBody>
                  <a:tcPr anchor="ctr" marL="91440" marR="73152" marT="36576" marB="36576">
                    <a:solidFill>
                      <a:srgbClr val="F5F7FA"/>
                    </a:solidFill>
                  </a:tcPr>
                </a:tc>
                <a:tc>
                  <a:txBody>
                    <a:bodyPr wrap="square"/>
                    <a:lstStyle/>
                    <a:p>
                      <a:pPr algn="l"/>
                      <a:r>
                        <a:rPr sz="1050" b="1">
                          <a:solidFill>
                            <a:srgbClr val="C43D2E"/>
                          </a:solidFill>
                          <a:latin typeface="Segoe UI"/>
                        </a:rPr>
                        <a:t>Avoid</a:t>
                      </a:r>
                    </a:p>
                  </a:txBody>
                  <a:tcPr anchor="ctr" marL="91440" marR="73152" marT="36576" marB="36576">
                    <a:solidFill>
                      <a:srgbClr val="F5F7FA"/>
                    </a:solidFill>
                  </a:tcPr>
                </a:tc>
              </a:tr>
              <a:tr h="365760">
                <a:tc>
                  <a:txBody>
                    <a:bodyPr wrap="square"/>
                    <a:lstStyle/>
                    <a:p>
                      <a:pPr algn="l"/>
                      <a:r>
                        <a:rPr sz="1050" b="1">
                          <a:solidFill>
                            <a:srgbClr val="4A5568"/>
                          </a:solidFill>
                          <a:latin typeface="Segoe UI"/>
                        </a:rPr>
                        <a:t>Bus 31</a:t>
                      </a:r>
                    </a:p>
                  </a:txBody>
                  <a:tcPr anchor="ctr" marL="91440" marR="73152" marT="36576" marB="36576">
                    <a:solidFill>
                      <a:srgbClr val="FFFFFF"/>
                    </a:solidFill>
                  </a:tcPr>
                </a:tc>
                <a:tc>
                  <a:txBody>
                    <a:bodyPr wrap="square"/>
                    <a:lstStyle/>
                    <a:p>
                      <a:pPr algn="l"/>
                      <a:r>
                        <a:rPr sz="1050" b="0">
                          <a:solidFill>
                            <a:srgbClr val="4A5568"/>
                          </a:solidFill>
                          <a:latin typeface="Segoe UI"/>
                        </a:rPr>
                        <a:t>31 min</a:t>
                      </a:r>
                    </a:p>
                  </a:txBody>
                  <a:tcPr anchor="ctr" marL="91440" marR="73152" marT="36576" marB="36576">
                    <a:solidFill>
                      <a:srgbClr val="FFFFFF"/>
                    </a:solidFill>
                  </a:tcPr>
                </a:tc>
                <a:tc>
                  <a:txBody>
                    <a:bodyPr wrap="square"/>
                    <a:lstStyle/>
                    <a:p>
                      <a:pPr algn="l"/>
                      <a:r>
                        <a:rPr sz="1050" b="1">
                          <a:solidFill>
                            <a:srgbClr val="C8860E"/>
                          </a:solidFill>
                          <a:latin typeface="Segoe UI"/>
                        </a:rPr>
                        <a:t>72%  standing</a:t>
                      </a:r>
                    </a:p>
                  </a:txBody>
                  <a:tcPr anchor="ctr" marL="91440" marR="73152" marT="36576" marB="36576">
                    <a:solidFill>
                      <a:srgbClr val="FFFFFF"/>
                    </a:solidFill>
                  </a:tcPr>
                </a:tc>
                <a:tc>
                  <a:txBody>
                    <a:bodyPr wrap="square"/>
                    <a:lstStyle/>
                    <a:p>
                      <a:pPr algn="l"/>
                      <a:r>
                        <a:rPr sz="1050" b="0">
                          <a:solidFill>
                            <a:srgbClr val="C8860E"/>
                          </a:solidFill>
                          <a:latin typeface="Segoe UI"/>
                        </a:rPr>
                        <a:t>Medium</a:t>
                      </a:r>
                    </a:p>
                  </a:txBody>
                  <a:tcPr anchor="ctr" marL="91440" marR="73152" marT="36576" marB="36576">
                    <a:solidFill>
                      <a:srgbClr val="FFFFFF"/>
                    </a:solidFill>
                  </a:tcPr>
                </a:tc>
                <a:tc>
                  <a:txBody>
                    <a:bodyPr wrap="square"/>
                    <a:lstStyle/>
                    <a:p>
                      <a:pPr algn="l"/>
                      <a:r>
                        <a:rPr sz="1050" b="1">
                          <a:solidFill>
                            <a:srgbClr val="1B3F8B"/>
                          </a:solidFill>
                          <a:latin typeface="Segoe UI"/>
                        </a:rPr>
                        <a:t>Fastest</a:t>
                      </a:r>
                    </a:p>
                  </a:txBody>
                  <a:tcPr anchor="ctr" marL="91440" marR="73152" marT="36576" marB="36576">
                    <a:solidFill>
                      <a:srgbClr val="FFFFFF"/>
                    </a:solidFill>
                  </a:tcPr>
                </a:tc>
              </a:tr>
              <a:tr h="365760">
                <a:tc>
                  <a:txBody>
                    <a:bodyPr wrap="square"/>
                    <a:lstStyle/>
                    <a:p>
                      <a:pPr algn="l"/>
                      <a:r>
                        <a:rPr sz="1050" b="1">
                          <a:solidFill>
                            <a:srgbClr val="4A5568"/>
                          </a:solidFill>
                          <a:latin typeface="Segoe UI"/>
                        </a:rPr>
                        <a:t>Bus 22</a:t>
                      </a:r>
                    </a:p>
                  </a:txBody>
                  <a:tcPr anchor="ctr" marL="91440" marR="73152" marT="36576" marB="36576">
                    <a:solidFill>
                      <a:srgbClr val="F5F7FA"/>
                    </a:solidFill>
                  </a:tcPr>
                </a:tc>
                <a:tc>
                  <a:txBody>
                    <a:bodyPr wrap="square"/>
                    <a:lstStyle/>
                    <a:p>
                      <a:pPr algn="l"/>
                      <a:r>
                        <a:rPr sz="1050" b="0">
                          <a:solidFill>
                            <a:srgbClr val="4A5568"/>
                          </a:solidFill>
                          <a:latin typeface="Segoe UI"/>
                        </a:rPr>
                        <a:t>39 min</a:t>
                      </a:r>
                    </a:p>
                  </a:txBody>
                  <a:tcPr anchor="ctr" marL="91440" marR="73152" marT="36576" marB="36576">
                    <a:solidFill>
                      <a:srgbClr val="F5F7FA"/>
                    </a:solidFill>
                  </a:tcPr>
                </a:tc>
                <a:tc>
                  <a:txBody>
                    <a:bodyPr wrap="square"/>
                    <a:lstStyle/>
                    <a:p>
                      <a:pPr algn="l"/>
                      <a:r>
                        <a:rPr sz="1050" b="1">
                          <a:solidFill>
                            <a:srgbClr val="138808"/>
                          </a:solidFill>
                          <a:latin typeface="Segoe UI"/>
                        </a:rPr>
                        <a:t>42%  seats likely</a:t>
                      </a:r>
                    </a:p>
                  </a:txBody>
                  <a:tcPr anchor="ctr" marL="91440" marR="73152" marT="36576" marB="36576">
                    <a:solidFill>
                      <a:srgbClr val="F5F7FA"/>
                    </a:solidFill>
                  </a:tcPr>
                </a:tc>
                <a:tc>
                  <a:txBody>
                    <a:bodyPr wrap="square"/>
                    <a:lstStyle/>
                    <a:p>
                      <a:pPr algn="l"/>
                      <a:r>
                        <a:rPr sz="1050" b="0">
                          <a:solidFill>
                            <a:srgbClr val="138808"/>
                          </a:solidFill>
                          <a:latin typeface="Segoe UI"/>
                        </a:rPr>
                        <a:t>Low</a:t>
                      </a:r>
                    </a:p>
                  </a:txBody>
                  <a:tcPr anchor="ctr" marL="91440" marR="73152" marT="36576" marB="36576">
                    <a:solidFill>
                      <a:srgbClr val="F5F7FA"/>
                    </a:solidFill>
                  </a:tcPr>
                </a:tc>
                <a:tc>
                  <a:txBody>
                    <a:bodyPr wrap="square"/>
                    <a:lstStyle/>
                    <a:p>
                      <a:pPr algn="l"/>
                      <a:r>
                        <a:rPr sz="1050" b="1">
                          <a:solidFill>
                            <a:srgbClr val="138808"/>
                          </a:solidFill>
                          <a:latin typeface="Segoe UI"/>
                        </a:rPr>
                        <a:t>Recommended</a:t>
                      </a:r>
                    </a:p>
                  </a:txBody>
                  <a:tcPr anchor="ctr" marL="91440" marR="73152" marT="36576" marB="36576">
                    <a:solidFill>
                      <a:srgbClr val="F5F7FA"/>
                    </a:solidFill>
                  </a:tcPr>
                </a:tc>
              </a:tr>
            </a:tbl>
          </a:graphicData>
        </a:graphic>
      </p:graphicFrame>
      <p:sp>
        <p:nvSpPr>
          <p:cNvPr id="12" name="TextBox 11"/>
          <p:cNvSpPr txBox="1"/>
          <p:nvPr/>
        </p:nvSpPr>
        <p:spPr>
          <a:xfrm>
            <a:off x="566928" y="3236976"/>
            <a:ext cx="5989320" cy="237744"/>
          </a:xfrm>
          <a:prstGeom prst="rect">
            <a:avLst/>
          </a:prstGeom>
          <a:noFill/>
        </p:spPr>
        <p:txBody>
          <a:bodyPr wrap="square" lIns="0" rIns="0" tIns="0" bIns="0">
            <a:spAutoFit/>
          </a:bodyPr>
          <a:lstStyle/>
          <a:p>
            <a:pPr algn="l">
              <a:lnSpc>
                <a:spcPct val="122000"/>
              </a:lnSpc>
              <a:spcBef>
                <a:spcPts val="0"/>
              </a:spcBef>
              <a:spcAft>
                <a:spcPts val="0"/>
              </a:spcAft>
            </a:pPr>
            <a:r>
              <a:rPr sz="1100" b="1">
                <a:solidFill>
                  <a:srgbClr val="10275C"/>
                </a:solidFill>
                <a:latin typeface="Segoe UI"/>
              </a:rPr>
              <a:t>The traveller sets the priority. </a:t>
            </a:r>
            <a:r>
              <a:rPr sz="1100" b="0">
                <a:solidFill>
                  <a:srgbClr val="4A5568"/>
                </a:solidFill>
                <a:latin typeface="Segoe UI"/>
              </a:rPr>
              <a:t>The table above re-orders to match it.</a:t>
            </a:r>
          </a:p>
        </p:txBody>
      </p:sp>
      <p:sp>
        <p:nvSpPr>
          <p:cNvPr id="13" name="Rounded Rectangle 12"/>
          <p:cNvSpPr/>
          <p:nvPr/>
        </p:nvSpPr>
        <p:spPr>
          <a:xfrm>
            <a:off x="566928" y="3529584"/>
            <a:ext cx="1399032" cy="329184"/>
          </a:xfrm>
          <a:prstGeom prst="roundRect">
            <a:avLst>
              <a:gd name="adj" fmla="val 50000"/>
            </a:avLst>
          </a:prstGeom>
          <a:solidFill>
            <a:srgbClr val="FFFFFF"/>
          </a:solidFill>
          <a:ln w="13970">
            <a:solidFill>
              <a:srgbClr val="1B3F8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2000"/>
              </a:lnSpc>
              <a:spcBef>
                <a:spcPts val="0"/>
              </a:spcBef>
              <a:spcAft>
                <a:spcPts val="0"/>
              </a:spcAft>
            </a:pPr>
            <a:r>
              <a:rPr sz="950" b="1" i="0">
                <a:solidFill>
                  <a:srgbClr val="1B3F8B"/>
                </a:solidFill>
                <a:latin typeface="Segoe UI"/>
              </a:rPr>
              <a:t>Fastest</a:t>
            </a:r>
          </a:p>
        </p:txBody>
      </p:sp>
      <p:sp>
        <p:nvSpPr>
          <p:cNvPr id="14" name="Rounded Rectangle 13"/>
          <p:cNvSpPr/>
          <p:nvPr/>
        </p:nvSpPr>
        <p:spPr>
          <a:xfrm>
            <a:off x="2057400" y="3529584"/>
            <a:ext cx="1399032" cy="329184"/>
          </a:xfrm>
          <a:prstGeom prst="roundRect">
            <a:avLst>
              <a:gd name="adj" fmla="val 50000"/>
            </a:avLst>
          </a:prstGeom>
          <a:solidFill>
            <a:srgbClr val="FFFFFF"/>
          </a:solidFill>
          <a:ln w="13970">
            <a:solidFill>
              <a:srgbClr val="E2761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2000"/>
              </a:lnSpc>
              <a:spcBef>
                <a:spcPts val="0"/>
              </a:spcBef>
              <a:spcAft>
                <a:spcPts val="0"/>
              </a:spcAft>
            </a:pPr>
            <a:r>
              <a:rPr sz="950" b="1" i="0">
                <a:solidFill>
                  <a:srgbClr val="E2761B"/>
                </a:solidFill>
                <a:latin typeface="Segoe UI"/>
              </a:rPr>
              <a:t>Least crowded</a:t>
            </a:r>
          </a:p>
        </p:txBody>
      </p:sp>
      <p:sp>
        <p:nvSpPr>
          <p:cNvPr id="15" name="Rounded Rectangle 14"/>
          <p:cNvSpPr/>
          <p:nvPr/>
        </p:nvSpPr>
        <p:spPr>
          <a:xfrm>
            <a:off x="3547872" y="3529584"/>
            <a:ext cx="1399032" cy="329184"/>
          </a:xfrm>
          <a:prstGeom prst="roundRect">
            <a:avLst>
              <a:gd name="adj" fmla="val 50000"/>
            </a:avLst>
          </a:prstGeom>
          <a:solidFill>
            <a:srgbClr val="FFFFFF"/>
          </a:solidFill>
          <a:ln w="13970">
            <a:solidFill>
              <a:srgbClr val="13880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2000"/>
              </a:lnSpc>
              <a:spcBef>
                <a:spcPts val="0"/>
              </a:spcBef>
              <a:spcAft>
                <a:spcPts val="0"/>
              </a:spcAft>
            </a:pPr>
            <a:r>
              <a:rPr sz="950" b="1" i="0">
                <a:solidFill>
                  <a:srgbClr val="138808"/>
                </a:solidFill>
                <a:latin typeface="Segoe UI"/>
              </a:rPr>
              <a:t>Most reliable</a:t>
            </a:r>
          </a:p>
        </p:txBody>
      </p:sp>
      <p:sp>
        <p:nvSpPr>
          <p:cNvPr id="16" name="Rounded Rectangle 15"/>
          <p:cNvSpPr/>
          <p:nvPr/>
        </p:nvSpPr>
        <p:spPr>
          <a:xfrm>
            <a:off x="5038344" y="3529584"/>
            <a:ext cx="1399032" cy="329184"/>
          </a:xfrm>
          <a:prstGeom prst="roundRect">
            <a:avLst>
              <a:gd name="adj" fmla="val 50000"/>
            </a:avLst>
          </a:prstGeom>
          <a:solidFill>
            <a:srgbClr val="102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2000"/>
              </a:lnSpc>
              <a:spcBef>
                <a:spcPts val="0"/>
              </a:spcBef>
              <a:spcAft>
                <a:spcPts val="0"/>
              </a:spcAft>
            </a:pPr>
            <a:r>
              <a:rPr sz="950" b="1" i="0">
                <a:solidFill>
                  <a:srgbClr val="FFFFFF"/>
                </a:solidFill>
                <a:latin typeface="Segoe UI"/>
              </a:rPr>
              <a:t>Balanced</a:t>
            </a:r>
          </a:p>
        </p:txBody>
      </p:sp>
      <p:sp>
        <p:nvSpPr>
          <p:cNvPr id="17" name="TextBox 16"/>
          <p:cNvSpPr txBox="1"/>
          <p:nvPr/>
        </p:nvSpPr>
        <p:spPr>
          <a:xfrm>
            <a:off x="5038344" y="3886200"/>
            <a:ext cx="1399032" cy="201168"/>
          </a:xfrm>
          <a:prstGeom prst="rect">
            <a:avLst/>
          </a:prstGeom>
          <a:noFill/>
        </p:spPr>
        <p:txBody>
          <a:bodyPr wrap="square" lIns="0" rIns="0" tIns="0" bIns="0">
            <a:spAutoFit/>
          </a:bodyPr>
          <a:lstStyle/>
          <a:p>
            <a:pPr algn="ctr">
              <a:lnSpc>
                <a:spcPct val="122000"/>
              </a:lnSpc>
              <a:spcBef>
                <a:spcPts val="0"/>
              </a:spcBef>
              <a:spcAft>
                <a:spcPts val="0"/>
              </a:spcAft>
            </a:pPr>
            <a:r>
              <a:rPr sz="850" b="0" i="1">
                <a:solidFill>
                  <a:srgbClr val="8490A2"/>
                </a:solidFill>
                <a:latin typeface="Segoe UI"/>
              </a:rPr>
              <a:t>selected</a:t>
            </a:r>
          </a:p>
        </p:txBody>
      </p:sp>
      <p:sp>
        <p:nvSpPr>
          <p:cNvPr id="18" name="Rounded Rectangle 17"/>
          <p:cNvSpPr/>
          <p:nvPr/>
        </p:nvSpPr>
        <p:spPr>
          <a:xfrm>
            <a:off x="566928" y="4142232"/>
            <a:ext cx="5989320" cy="738835"/>
          </a:xfrm>
          <a:prstGeom prst="roundRect">
            <a:avLst>
              <a:gd name="adj" fmla="val 5000"/>
            </a:avLst>
          </a:prstGeom>
          <a:solidFill>
            <a:srgbClr val="F5F7FA"/>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566928" y="4142232"/>
            <a:ext cx="45720" cy="738835"/>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04672" y="4306824"/>
            <a:ext cx="5513832" cy="409651"/>
          </a:xfrm>
          <a:prstGeom prst="rect">
            <a:avLst/>
          </a:prstGeom>
          <a:noFill/>
        </p:spPr>
        <p:txBody>
          <a:bodyPr wrap="square" lIns="0" rIns="0" tIns="0" bIns="0">
            <a:spAutoFit/>
          </a:bodyPr>
          <a:lstStyle/>
          <a:p>
            <a:pPr algn="l">
              <a:lnSpc>
                <a:spcPct val="128000"/>
              </a:lnSpc>
              <a:spcBef>
                <a:spcPts val="0"/>
              </a:spcBef>
              <a:spcAft>
                <a:spcPts val="0"/>
              </a:spcAft>
            </a:pPr>
            <a:r>
              <a:rPr sz="1050" b="1">
                <a:solidFill>
                  <a:srgbClr val="10275C"/>
                </a:solidFill>
                <a:latin typeface="Segoe UI"/>
              </a:rPr>
              <a:t>Uncertainty is shown, not hidden.  </a:t>
            </a:r>
            <a:r>
              <a:rPr sz="1050" b="0">
                <a:solidFill>
                  <a:srgbClr val="4A5568"/>
                </a:solidFill>
                <a:latin typeface="Segoe UI"/>
              </a:rPr>
              <a:t>Occupancy p10 0.68 / p50 0.84 / p90 0.95, arrival 17:31 to 17:39. Missing occupancy shows as </a:t>
            </a:r>
            <a:r>
              <a:rPr sz="1050" b="1">
                <a:solidFill>
                  <a:srgbClr val="C43D2E"/>
                </a:solidFill>
                <a:latin typeface="Segoe UI"/>
              </a:rPr>
              <a:t>unknown</a:t>
            </a:r>
            <a:r>
              <a:rPr sz="1050" b="0">
                <a:solidFill>
                  <a:srgbClr val="4A5568"/>
                </a:solidFill>
                <a:latin typeface="Segoe UI"/>
              </a:rPr>
              <a:t>, never as empty.</a:t>
            </a:r>
          </a:p>
        </p:txBody>
      </p:sp>
      <p:sp>
        <p:nvSpPr>
          <p:cNvPr id="21" name="Rounded Rectangle 20"/>
          <p:cNvSpPr/>
          <p:nvPr/>
        </p:nvSpPr>
        <p:spPr>
          <a:xfrm>
            <a:off x="6830568" y="1609344"/>
            <a:ext cx="4794199" cy="2395728"/>
          </a:xfrm>
          <a:prstGeom prst="roundRect">
            <a:avLst>
              <a:gd name="adj" fmla="val 5000"/>
            </a:avLst>
          </a:prstGeom>
          <a:solidFill>
            <a:srgbClr val="F5F7FA"/>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086600" y="1755648"/>
            <a:ext cx="4336999" cy="237744"/>
          </a:xfrm>
          <a:prstGeom prst="rect">
            <a:avLst/>
          </a:prstGeom>
          <a:noFill/>
        </p:spPr>
        <p:txBody>
          <a:bodyPr wrap="square" lIns="0" rIns="0" tIns="0" bIns="0">
            <a:spAutoFit/>
          </a:bodyPr>
          <a:lstStyle/>
          <a:p>
            <a:pPr algn="l">
              <a:lnSpc>
                <a:spcPct val="122000"/>
              </a:lnSpc>
              <a:spcBef>
                <a:spcPts val="0"/>
              </a:spcBef>
              <a:spcAft>
                <a:spcPts val="0"/>
              </a:spcAft>
            </a:pPr>
            <a:r>
              <a:rPr sz="1150" b="1">
                <a:solidFill>
                  <a:srgbClr val="10275C"/>
                </a:solidFill>
                <a:latin typeface="Segoe UI"/>
              </a:rPr>
              <a:t>The advice no other app gives:  </a:t>
            </a:r>
            <a:r>
              <a:rPr sz="1150" b="1">
                <a:solidFill>
                  <a:srgbClr val="138808"/>
                </a:solidFill>
                <a:latin typeface="Segoe UI"/>
              </a:rPr>
              <a:t>“leave 15 minutes later”</a:t>
            </a:r>
          </a:p>
        </p:txBody>
      </p:sp>
      <p:sp>
        <p:nvSpPr>
          <p:cNvPr id="23" name="Rectangle 22"/>
          <p:cNvSpPr/>
          <p:nvPr/>
        </p:nvSpPr>
        <p:spPr>
          <a:xfrm>
            <a:off x="7123176" y="3474720"/>
            <a:ext cx="4208983" cy="12700"/>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7350461" y="2426269"/>
            <a:ext cx="387226" cy="1048451"/>
          </a:xfrm>
          <a:prstGeom prst="roundRect">
            <a:avLst>
              <a:gd name="adj" fmla="val 16000"/>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041154" y="2188525"/>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C43D2E"/>
                </a:solidFill>
                <a:latin typeface="Segoe UI"/>
              </a:rPr>
              <a:t>91%</a:t>
            </a:r>
          </a:p>
        </p:txBody>
      </p:sp>
      <p:sp>
        <p:nvSpPr>
          <p:cNvPr id="26" name="TextBox 25"/>
          <p:cNvSpPr txBox="1"/>
          <p:nvPr/>
        </p:nvSpPr>
        <p:spPr>
          <a:xfrm>
            <a:off x="6977146" y="3557016"/>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1000" b="1" i="0">
                <a:solidFill>
                  <a:srgbClr val="10275C"/>
                </a:solidFill>
                <a:latin typeface="Segoe UI"/>
              </a:rPr>
              <a:t>Now</a:t>
            </a:r>
          </a:p>
        </p:txBody>
      </p:sp>
      <p:sp>
        <p:nvSpPr>
          <p:cNvPr id="27" name="Rounded Rectangle 26"/>
          <p:cNvSpPr/>
          <p:nvPr/>
        </p:nvSpPr>
        <p:spPr>
          <a:xfrm>
            <a:off x="8192257" y="2506920"/>
            <a:ext cx="387226" cy="967800"/>
          </a:xfrm>
          <a:prstGeom prst="roundRect">
            <a:avLst>
              <a:gd name="adj" fmla="val 16000"/>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882950" y="2269176"/>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C43D2E"/>
                </a:solidFill>
                <a:latin typeface="Segoe UI"/>
              </a:rPr>
              <a:t>84%</a:t>
            </a:r>
          </a:p>
        </p:txBody>
      </p:sp>
      <p:sp>
        <p:nvSpPr>
          <p:cNvPr id="29" name="TextBox 28"/>
          <p:cNvSpPr txBox="1"/>
          <p:nvPr/>
        </p:nvSpPr>
        <p:spPr>
          <a:xfrm>
            <a:off x="7818942" y="3557016"/>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1000" b="1" i="0">
                <a:solidFill>
                  <a:srgbClr val="10275C"/>
                </a:solidFill>
                <a:latin typeface="Segoe UI"/>
              </a:rPr>
              <a:t>+5</a:t>
            </a:r>
          </a:p>
        </p:txBody>
      </p:sp>
      <p:sp>
        <p:nvSpPr>
          <p:cNvPr id="30" name="Rounded Rectangle 29"/>
          <p:cNvSpPr/>
          <p:nvPr/>
        </p:nvSpPr>
        <p:spPr>
          <a:xfrm>
            <a:off x="9034054" y="2748870"/>
            <a:ext cx="387226" cy="725850"/>
          </a:xfrm>
          <a:prstGeom prst="roundRect">
            <a:avLst>
              <a:gd name="adj" fmla="val 16000"/>
            </a:avLst>
          </a:prstGeom>
          <a:solidFill>
            <a:srgbClr val="C886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724747" y="2511126"/>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C8860E"/>
                </a:solidFill>
                <a:latin typeface="Segoe UI"/>
              </a:rPr>
              <a:t>63%</a:t>
            </a:r>
          </a:p>
        </p:txBody>
      </p:sp>
      <p:sp>
        <p:nvSpPr>
          <p:cNvPr id="32" name="TextBox 31"/>
          <p:cNvSpPr txBox="1"/>
          <p:nvPr/>
        </p:nvSpPr>
        <p:spPr>
          <a:xfrm>
            <a:off x="8660739" y="3557016"/>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1000" b="1" i="0">
                <a:solidFill>
                  <a:srgbClr val="10275C"/>
                </a:solidFill>
                <a:latin typeface="Segoe UI"/>
              </a:rPr>
              <a:t>+10</a:t>
            </a:r>
          </a:p>
        </p:txBody>
      </p:sp>
      <p:sp>
        <p:nvSpPr>
          <p:cNvPr id="33" name="Rounded Rectangle 32"/>
          <p:cNvSpPr/>
          <p:nvPr/>
        </p:nvSpPr>
        <p:spPr>
          <a:xfrm>
            <a:off x="9875851" y="2990820"/>
            <a:ext cx="387226" cy="483900"/>
          </a:xfrm>
          <a:prstGeom prst="roundRect">
            <a:avLst>
              <a:gd name="adj" fmla="val 16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9811843" y="2926812"/>
            <a:ext cx="515242" cy="547908"/>
          </a:xfrm>
          <a:prstGeom prst="roundRect">
            <a:avLst>
              <a:gd name="adj" fmla="val 16000"/>
            </a:avLst>
          </a:prstGeom>
          <a:noFill/>
          <a:ln w="20320">
            <a:solidFill>
              <a:srgbClr val="1027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566544" y="2753076"/>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138808"/>
                </a:solidFill>
                <a:latin typeface="Segoe UI"/>
              </a:rPr>
              <a:t>42%</a:t>
            </a:r>
          </a:p>
        </p:txBody>
      </p:sp>
      <p:sp>
        <p:nvSpPr>
          <p:cNvPr id="36" name="TextBox 35"/>
          <p:cNvSpPr txBox="1"/>
          <p:nvPr/>
        </p:nvSpPr>
        <p:spPr>
          <a:xfrm>
            <a:off x="9502536" y="3557016"/>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1000" b="1" i="0">
                <a:solidFill>
                  <a:srgbClr val="10275C"/>
                </a:solidFill>
                <a:latin typeface="Segoe UI"/>
              </a:rPr>
              <a:t>+15</a:t>
            </a:r>
          </a:p>
        </p:txBody>
      </p:sp>
      <p:sp>
        <p:nvSpPr>
          <p:cNvPr id="37" name="Rounded Rectangle 36"/>
          <p:cNvSpPr/>
          <p:nvPr/>
        </p:nvSpPr>
        <p:spPr>
          <a:xfrm>
            <a:off x="10717647" y="2933213"/>
            <a:ext cx="387226" cy="541507"/>
          </a:xfrm>
          <a:prstGeom prst="roundRect">
            <a:avLst>
              <a:gd name="adj" fmla="val 16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0408340" y="2695469"/>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138808"/>
                </a:solidFill>
                <a:latin typeface="Segoe UI"/>
              </a:rPr>
              <a:t>47%</a:t>
            </a:r>
          </a:p>
        </p:txBody>
      </p:sp>
      <p:sp>
        <p:nvSpPr>
          <p:cNvPr id="39" name="TextBox 38"/>
          <p:cNvSpPr txBox="1"/>
          <p:nvPr/>
        </p:nvSpPr>
        <p:spPr>
          <a:xfrm>
            <a:off x="10344332" y="3557016"/>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1000" b="1" i="0">
                <a:solidFill>
                  <a:srgbClr val="10275C"/>
                </a:solidFill>
                <a:latin typeface="Segoe UI"/>
              </a:rPr>
              <a:t>+20</a:t>
            </a:r>
          </a:p>
        </p:txBody>
      </p:sp>
      <p:sp>
        <p:nvSpPr>
          <p:cNvPr id="40" name="Rounded Rectangle 39"/>
          <p:cNvSpPr/>
          <p:nvPr/>
        </p:nvSpPr>
        <p:spPr>
          <a:xfrm>
            <a:off x="6830568" y="4206240"/>
            <a:ext cx="4794199" cy="943660"/>
          </a:xfrm>
          <a:prstGeom prst="roundRect">
            <a:avLst>
              <a:gd name="adj" fmla="val 5000"/>
            </a:avLst>
          </a:prstGeom>
          <a:solidFill>
            <a:srgbClr val="F5F7FA"/>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6830568" y="4206240"/>
            <a:ext cx="45720" cy="943660"/>
          </a:xfrm>
          <a:prstGeom prst="roundRect">
            <a:avLst>
              <a:gd name="adj" fmla="val 50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068312" y="4370832"/>
            <a:ext cx="4318711" cy="614476"/>
          </a:xfrm>
          <a:prstGeom prst="rect">
            <a:avLst/>
          </a:prstGeom>
          <a:noFill/>
        </p:spPr>
        <p:txBody>
          <a:bodyPr wrap="square" lIns="0" rIns="0" tIns="0" bIns="0">
            <a:spAutoFit/>
          </a:bodyPr>
          <a:lstStyle/>
          <a:p>
            <a:pPr algn="l">
              <a:lnSpc>
                <a:spcPct val="128000"/>
              </a:lnSpc>
              <a:spcBef>
                <a:spcPts val="0"/>
              </a:spcBef>
              <a:spcAft>
                <a:spcPts val="0"/>
              </a:spcAft>
            </a:pPr>
            <a:r>
              <a:rPr sz="1050" b="1">
                <a:solidFill>
                  <a:srgbClr val="10275C"/>
                </a:solidFill>
                <a:latin typeface="Segoe UI"/>
              </a:rPr>
              <a:t>Same arrival window, 42% instead of 91% full.</a:t>
            </a:r>
            <a:r>
              <a:rPr sz="1050" b="0">
                <a:solidFill>
                  <a:srgbClr val="4A5568"/>
                </a:solidFill>
                <a:latin typeface="Segoe UI"/>
              </a:rPr>
              <a:t>  We suggest waiting only when the gain clears a threshold, and re-route mid-journey only when the better option actually flips.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10896"/>
            <a:ext cx="158496" cy="6858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25424" y="310896"/>
            <a:ext cx="158496" cy="68580"/>
          </a:xfrm>
          <a:prstGeom prst="rect">
            <a:avLst/>
          </a:prstGeom>
          <a:solidFill>
            <a:srgbClr val="102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83920" y="310896"/>
            <a:ext cx="158496" cy="6858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88720" y="256032"/>
            <a:ext cx="11057839" cy="237744"/>
          </a:xfrm>
          <a:prstGeom prst="rect">
            <a:avLst/>
          </a:prstGeom>
          <a:noFill/>
        </p:spPr>
        <p:txBody>
          <a:bodyPr wrap="square" lIns="0" rIns="0" tIns="0" bIns="0">
            <a:spAutoFit/>
          </a:bodyPr>
          <a:lstStyle/>
          <a:p>
            <a:pPr algn="l">
              <a:lnSpc>
                <a:spcPct val="122000"/>
              </a:lnSpc>
              <a:spcBef>
                <a:spcPts val="0"/>
              </a:spcBef>
              <a:spcAft>
                <a:spcPts val="0"/>
              </a:spcAft>
            </a:pPr>
            <a:r>
              <a:rPr sz="1000" b="1" i="0">
                <a:solidFill>
                  <a:srgbClr val="E2761B"/>
                </a:solidFill>
                <a:latin typeface="Segoe UI"/>
              </a:rPr>
              <a:t>INNOVATION &amp; UNIQUENESS</a:t>
            </a:r>
          </a:p>
        </p:txBody>
      </p:sp>
      <p:sp>
        <p:nvSpPr>
          <p:cNvPr id="6" name="TextBox 5"/>
          <p:cNvSpPr txBox="1"/>
          <p:nvPr/>
        </p:nvSpPr>
        <p:spPr>
          <a:xfrm>
            <a:off x="566928" y="548640"/>
            <a:ext cx="11057839" cy="457200"/>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0275C"/>
                </a:solidFill>
                <a:latin typeface="Segoe UI"/>
              </a:rPr>
              <a:t>What existing products do not do</a:t>
            </a:r>
          </a:p>
        </p:txBody>
      </p:sp>
      <p:sp>
        <p:nvSpPr>
          <p:cNvPr id="7" name="TextBox 6"/>
          <p:cNvSpPr txBox="1"/>
          <p:nvPr/>
        </p:nvSpPr>
        <p:spPr>
          <a:xfrm>
            <a:off x="566928" y="1060704"/>
            <a:ext cx="10783519" cy="292608"/>
          </a:xfrm>
          <a:prstGeom prst="rect">
            <a:avLst/>
          </a:prstGeom>
          <a:noFill/>
        </p:spPr>
        <p:txBody>
          <a:bodyPr wrap="square" lIns="0" rIns="0" tIns="0" bIns="0">
            <a:spAutoFit/>
          </a:bodyPr>
          <a:lstStyle/>
          <a:p>
            <a:pPr algn="l">
              <a:lnSpc>
                <a:spcPct val="122000"/>
              </a:lnSpc>
              <a:spcBef>
                <a:spcPts val="0"/>
              </a:spcBef>
              <a:spcAft>
                <a:spcPts val="0"/>
              </a:spcAft>
            </a:pPr>
            <a:r>
              <a:rPr sz="1250" b="0" i="0">
                <a:solidFill>
                  <a:srgbClr val="8490A2"/>
                </a:solidFill>
                <a:latin typeface="Segoe UI"/>
              </a:rPr>
              <a:t>The differentiator is forecasting at the decision point, plus an operator product no consumer app will build.</a:t>
            </a:r>
          </a:p>
        </p:txBody>
      </p:sp>
      <p:sp>
        <p:nvSpPr>
          <p:cNvPr id="8" name="Rectangle 7"/>
          <p:cNvSpPr/>
          <p:nvPr/>
        </p:nvSpPr>
        <p:spPr>
          <a:xfrm>
            <a:off x="566928" y="1371600"/>
            <a:ext cx="11057839" cy="952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66928" y="6419088"/>
            <a:ext cx="10509199" cy="201168"/>
          </a:xfrm>
          <a:prstGeom prst="rect">
            <a:avLst/>
          </a:prstGeom>
          <a:noFill/>
        </p:spPr>
        <p:txBody>
          <a:bodyPr wrap="square" lIns="0" rIns="0" tIns="0" bIns="0">
            <a:spAutoFit/>
          </a:bodyPr>
          <a:lstStyle/>
          <a:p>
            <a:pPr algn="l">
              <a:lnSpc>
                <a:spcPct val="122000"/>
              </a:lnSpc>
              <a:spcBef>
                <a:spcPts val="0"/>
              </a:spcBef>
              <a:spcAft>
                <a:spcPts val="0"/>
              </a:spcAft>
            </a:pPr>
            <a:r>
              <a:rPr sz="850" b="0" i="0">
                <a:solidFill>
                  <a:srgbClr val="8490A2"/>
                </a:solidFill>
                <a:latin typeface="Segoe UI"/>
              </a:rPr>
              <a:t>PRAVAAH  |  Intelligent Public Transport Crowding &amp; Route Prediction</a:t>
            </a:r>
          </a:p>
        </p:txBody>
      </p:sp>
      <p:sp>
        <p:nvSpPr>
          <p:cNvPr id="10" name="TextBox 9"/>
          <p:cNvSpPr txBox="1"/>
          <p:nvPr/>
        </p:nvSpPr>
        <p:spPr>
          <a:xfrm>
            <a:off x="11076127" y="6419088"/>
            <a:ext cx="548640" cy="201168"/>
          </a:xfrm>
          <a:prstGeom prst="rect">
            <a:avLst/>
          </a:prstGeom>
          <a:noFill/>
        </p:spPr>
        <p:txBody>
          <a:bodyPr wrap="square" lIns="0" rIns="0" tIns="0" bIns="0">
            <a:spAutoFit/>
          </a:bodyPr>
          <a:lstStyle/>
          <a:p>
            <a:pPr algn="r">
              <a:lnSpc>
                <a:spcPct val="122000"/>
              </a:lnSpc>
              <a:spcBef>
                <a:spcPts val="0"/>
              </a:spcBef>
              <a:spcAft>
                <a:spcPts val="0"/>
              </a:spcAft>
            </a:pPr>
            <a:r>
              <a:rPr sz="900" b="1" i="0">
                <a:solidFill>
                  <a:srgbClr val="10275C"/>
                </a:solidFill>
                <a:latin typeface="Segoe UI"/>
              </a:rPr>
              <a:t>5</a:t>
            </a:r>
          </a:p>
        </p:txBody>
      </p:sp>
      <p:sp>
        <p:nvSpPr>
          <p:cNvPr id="11" name="TextBox 10"/>
          <p:cNvSpPr txBox="1"/>
          <p:nvPr/>
        </p:nvSpPr>
        <p:spPr>
          <a:xfrm>
            <a:off x="3172968" y="1609344"/>
            <a:ext cx="1580631" cy="530352"/>
          </a:xfrm>
          <a:prstGeom prst="rect">
            <a:avLst/>
          </a:prstGeom>
          <a:noFill/>
        </p:spPr>
        <p:txBody>
          <a:bodyPr wrap="square" lIns="0" rIns="0" tIns="0" bIns="0">
            <a:spAutoFit/>
          </a:bodyPr>
          <a:lstStyle/>
          <a:p>
            <a:pPr algn="ctr">
              <a:lnSpc>
                <a:spcPct val="115000"/>
              </a:lnSpc>
              <a:spcBef>
                <a:spcPts val="0"/>
              </a:spcBef>
              <a:spcAft>
                <a:spcPts val="0"/>
              </a:spcAft>
            </a:pPr>
            <a:r>
              <a:rPr sz="950" b="1" i="0">
                <a:solidFill>
                  <a:srgbClr val="10275C"/>
                </a:solidFill>
                <a:latin typeface="Segoe UI"/>
              </a:rPr>
              <a:t>Live vehicle map</a:t>
            </a:r>
          </a:p>
        </p:txBody>
      </p:sp>
      <p:sp>
        <p:nvSpPr>
          <p:cNvPr id="12" name="TextBox 11"/>
          <p:cNvSpPr txBox="1"/>
          <p:nvPr/>
        </p:nvSpPr>
        <p:spPr>
          <a:xfrm>
            <a:off x="4863327" y="1609344"/>
            <a:ext cx="1580631" cy="530352"/>
          </a:xfrm>
          <a:prstGeom prst="rect">
            <a:avLst/>
          </a:prstGeom>
          <a:noFill/>
        </p:spPr>
        <p:txBody>
          <a:bodyPr wrap="square" lIns="0" rIns="0" tIns="0" bIns="0">
            <a:spAutoFit/>
          </a:bodyPr>
          <a:lstStyle/>
          <a:p>
            <a:pPr algn="ctr">
              <a:lnSpc>
                <a:spcPct val="115000"/>
              </a:lnSpc>
              <a:spcBef>
                <a:spcPts val="0"/>
              </a:spcBef>
              <a:spcAft>
                <a:spcPts val="0"/>
              </a:spcAft>
            </a:pPr>
            <a:r>
              <a:rPr sz="950" b="1" i="0">
                <a:solidFill>
                  <a:srgbClr val="10275C"/>
                </a:solidFill>
                <a:latin typeface="Segoe UI"/>
              </a:rPr>
              <a:t>Crowd forecast at</a:t>
            </a:r>
          </a:p>
          <a:p>
            <a:pPr algn="ctr">
              <a:lnSpc>
                <a:spcPct val="115000"/>
              </a:lnSpc>
              <a:spcBef>
                <a:spcPts val="0"/>
              </a:spcBef>
              <a:spcAft>
                <a:spcPts val="0"/>
              </a:spcAft>
            </a:pPr>
            <a:r>
              <a:rPr sz="950" b="1" i="0">
                <a:solidFill>
                  <a:srgbClr val="10275C"/>
                </a:solidFill>
                <a:latin typeface="Segoe UI"/>
              </a:rPr>
              <a:t>your stop</a:t>
            </a:r>
          </a:p>
        </p:txBody>
      </p:sp>
      <p:sp>
        <p:nvSpPr>
          <p:cNvPr id="13" name="TextBox 12"/>
          <p:cNvSpPr txBox="1"/>
          <p:nvPr/>
        </p:nvSpPr>
        <p:spPr>
          <a:xfrm>
            <a:off x="6553687" y="1609344"/>
            <a:ext cx="1580631" cy="530352"/>
          </a:xfrm>
          <a:prstGeom prst="rect">
            <a:avLst/>
          </a:prstGeom>
          <a:noFill/>
        </p:spPr>
        <p:txBody>
          <a:bodyPr wrap="square" lIns="0" rIns="0" tIns="0" bIns="0">
            <a:spAutoFit/>
          </a:bodyPr>
          <a:lstStyle/>
          <a:p>
            <a:pPr algn="ctr">
              <a:lnSpc>
                <a:spcPct val="115000"/>
              </a:lnSpc>
              <a:spcBef>
                <a:spcPts val="0"/>
              </a:spcBef>
              <a:spcAft>
                <a:spcPts val="0"/>
              </a:spcAft>
            </a:pPr>
            <a:r>
              <a:rPr sz="950" b="1" i="0">
                <a:solidFill>
                  <a:srgbClr val="10275C"/>
                </a:solidFill>
                <a:latin typeface="Segoe UI"/>
              </a:rPr>
              <a:t>Uncertainty /</a:t>
            </a:r>
          </a:p>
          <a:p>
            <a:pPr algn="ctr">
              <a:lnSpc>
                <a:spcPct val="115000"/>
              </a:lnSpc>
              <a:spcBef>
                <a:spcPts val="0"/>
              </a:spcBef>
              <a:spcAft>
                <a:spcPts val="0"/>
              </a:spcAft>
            </a:pPr>
            <a:r>
              <a:rPr sz="950" b="1" i="0">
                <a:solidFill>
                  <a:srgbClr val="10275C"/>
                </a:solidFill>
                <a:latin typeface="Segoe UI"/>
              </a:rPr>
              <a:t>reliability</a:t>
            </a:r>
          </a:p>
        </p:txBody>
      </p:sp>
      <p:sp>
        <p:nvSpPr>
          <p:cNvPr id="14" name="TextBox 13"/>
          <p:cNvSpPr txBox="1"/>
          <p:nvPr/>
        </p:nvSpPr>
        <p:spPr>
          <a:xfrm>
            <a:off x="8244047" y="1609344"/>
            <a:ext cx="1580631" cy="530352"/>
          </a:xfrm>
          <a:prstGeom prst="rect">
            <a:avLst/>
          </a:prstGeom>
          <a:noFill/>
        </p:spPr>
        <p:txBody>
          <a:bodyPr wrap="square" lIns="0" rIns="0" tIns="0" bIns="0">
            <a:spAutoFit/>
          </a:bodyPr>
          <a:lstStyle/>
          <a:p>
            <a:pPr algn="ctr">
              <a:lnSpc>
                <a:spcPct val="115000"/>
              </a:lnSpc>
              <a:spcBef>
                <a:spcPts val="0"/>
              </a:spcBef>
              <a:spcAft>
                <a:spcPts val="0"/>
              </a:spcAft>
            </a:pPr>
            <a:r>
              <a:rPr sz="950" b="1" i="0">
                <a:solidFill>
                  <a:srgbClr val="10275C"/>
                </a:solidFill>
                <a:latin typeface="Segoe UI"/>
              </a:rPr>
              <a:t>Advice to travel</a:t>
            </a:r>
          </a:p>
          <a:p>
            <a:pPr algn="ctr">
              <a:lnSpc>
                <a:spcPct val="115000"/>
              </a:lnSpc>
              <a:spcBef>
                <a:spcPts val="0"/>
              </a:spcBef>
              <a:spcAft>
                <a:spcPts val="0"/>
              </a:spcAft>
            </a:pPr>
            <a:r>
              <a:rPr sz="950" b="1" i="0">
                <a:solidFill>
                  <a:srgbClr val="10275C"/>
                </a:solidFill>
                <a:latin typeface="Segoe UI"/>
              </a:rPr>
              <a:t>a little later</a:t>
            </a:r>
          </a:p>
        </p:txBody>
      </p:sp>
      <p:sp>
        <p:nvSpPr>
          <p:cNvPr id="15" name="TextBox 14"/>
          <p:cNvSpPr txBox="1"/>
          <p:nvPr/>
        </p:nvSpPr>
        <p:spPr>
          <a:xfrm>
            <a:off x="9934407" y="1609344"/>
            <a:ext cx="1580631" cy="530352"/>
          </a:xfrm>
          <a:prstGeom prst="rect">
            <a:avLst/>
          </a:prstGeom>
          <a:noFill/>
        </p:spPr>
        <p:txBody>
          <a:bodyPr wrap="square" lIns="0" rIns="0" tIns="0" bIns="0">
            <a:spAutoFit/>
          </a:bodyPr>
          <a:lstStyle/>
          <a:p>
            <a:pPr algn="ctr">
              <a:lnSpc>
                <a:spcPct val="115000"/>
              </a:lnSpc>
              <a:spcBef>
                <a:spcPts val="0"/>
              </a:spcBef>
              <a:spcAft>
                <a:spcPts val="0"/>
              </a:spcAft>
            </a:pPr>
            <a:r>
              <a:rPr sz="950" b="1" i="0">
                <a:solidFill>
                  <a:srgbClr val="10275C"/>
                </a:solidFill>
                <a:latin typeface="Segoe UI"/>
              </a:rPr>
              <a:t>Operator decision</a:t>
            </a:r>
          </a:p>
          <a:p>
            <a:pPr algn="ctr">
              <a:lnSpc>
                <a:spcPct val="115000"/>
              </a:lnSpc>
              <a:spcBef>
                <a:spcPts val="0"/>
              </a:spcBef>
              <a:spcAft>
                <a:spcPts val="0"/>
              </a:spcAft>
            </a:pPr>
            <a:r>
              <a:rPr sz="950" b="1" i="0">
                <a:solidFill>
                  <a:srgbClr val="10275C"/>
                </a:solidFill>
                <a:latin typeface="Segoe UI"/>
              </a:rPr>
              <a:t>support</a:t>
            </a:r>
          </a:p>
        </p:txBody>
      </p:sp>
      <p:sp>
        <p:nvSpPr>
          <p:cNvPr id="16" name="Rounded Rectangle 15"/>
          <p:cNvSpPr/>
          <p:nvPr/>
        </p:nvSpPr>
        <p:spPr>
          <a:xfrm>
            <a:off x="566928" y="2212848"/>
            <a:ext cx="11057839" cy="548640"/>
          </a:xfrm>
          <a:prstGeom prst="roundRect">
            <a:avLst>
              <a:gd name="adj" fmla="val 12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68096" y="2350008"/>
            <a:ext cx="2331720" cy="256032"/>
          </a:xfrm>
          <a:prstGeom prst="rect">
            <a:avLst/>
          </a:prstGeom>
          <a:noFill/>
        </p:spPr>
        <p:txBody>
          <a:bodyPr wrap="square" lIns="0" rIns="0" tIns="0" bIns="0">
            <a:spAutoFit/>
          </a:bodyPr>
          <a:lstStyle/>
          <a:p>
            <a:pPr algn="l">
              <a:lnSpc>
                <a:spcPct val="122000"/>
              </a:lnSpc>
              <a:spcBef>
                <a:spcPts val="0"/>
              </a:spcBef>
              <a:spcAft>
                <a:spcPts val="0"/>
              </a:spcAft>
            </a:pPr>
            <a:r>
              <a:rPr sz="1050" b="1" i="0">
                <a:solidFill>
                  <a:srgbClr val="4A5568"/>
                </a:solidFill>
                <a:latin typeface="Segoe UI"/>
              </a:rPr>
              <a:t>Google Maps / Transit</a:t>
            </a:r>
          </a:p>
        </p:txBody>
      </p:sp>
      <p:sp>
        <p:nvSpPr>
          <p:cNvPr id="18" name="TextBox 17"/>
          <p:cNvSpPr txBox="1"/>
          <p:nvPr/>
        </p:nvSpPr>
        <p:spPr>
          <a:xfrm>
            <a:off x="3688963" y="2340864"/>
            <a:ext cx="658368" cy="292608"/>
          </a:xfrm>
          <a:prstGeom prst="rect">
            <a:avLst/>
          </a:prstGeom>
          <a:noFill/>
        </p:spPr>
        <p:txBody>
          <a:bodyPr wrap="square" lIns="0" rIns="0" tIns="0" bIns="0">
            <a:spAutoFit/>
          </a:bodyPr>
          <a:lstStyle/>
          <a:p>
            <a:pPr algn="ctr">
              <a:lnSpc>
                <a:spcPct val="122000"/>
              </a:lnSpc>
              <a:spcBef>
                <a:spcPts val="0"/>
              </a:spcBef>
              <a:spcAft>
                <a:spcPts val="0"/>
              </a:spcAft>
            </a:pPr>
            <a:r>
              <a:rPr sz="1900" b="1" i="0">
                <a:solidFill>
                  <a:srgbClr val="1B3F8B"/>
                </a:solidFill>
                <a:latin typeface="Segoe UI"/>
              </a:rPr>
              <a:t>●</a:t>
            </a:r>
          </a:p>
        </p:txBody>
      </p:sp>
      <p:sp>
        <p:nvSpPr>
          <p:cNvPr id="19" name="TextBox 18"/>
          <p:cNvSpPr txBox="1"/>
          <p:nvPr/>
        </p:nvSpPr>
        <p:spPr>
          <a:xfrm>
            <a:off x="5379322" y="2340864"/>
            <a:ext cx="658368" cy="292608"/>
          </a:xfrm>
          <a:prstGeom prst="rect">
            <a:avLst/>
          </a:prstGeom>
          <a:noFill/>
        </p:spPr>
        <p:txBody>
          <a:bodyPr wrap="square" lIns="0" rIns="0" tIns="0" bIns="0">
            <a:spAutoFit/>
          </a:bodyPr>
          <a:lstStyle/>
          <a:p>
            <a:pPr algn="ctr">
              <a:lnSpc>
                <a:spcPct val="122000"/>
              </a:lnSpc>
              <a:spcBef>
                <a:spcPts val="0"/>
              </a:spcBef>
              <a:spcAft>
                <a:spcPts val="0"/>
              </a:spcAft>
            </a:pPr>
            <a:r>
              <a:rPr sz="1900" b="1" i="0">
                <a:solidFill>
                  <a:srgbClr val="C8860E"/>
                </a:solidFill>
                <a:latin typeface="Segoe UI"/>
              </a:rPr>
              <a:t>◐</a:t>
            </a:r>
          </a:p>
        </p:txBody>
      </p:sp>
      <p:sp>
        <p:nvSpPr>
          <p:cNvPr id="20" name="TextBox 19"/>
          <p:cNvSpPr txBox="1"/>
          <p:nvPr/>
        </p:nvSpPr>
        <p:spPr>
          <a:xfrm>
            <a:off x="7069682" y="2340864"/>
            <a:ext cx="658368" cy="292608"/>
          </a:xfrm>
          <a:prstGeom prst="rect">
            <a:avLst/>
          </a:prstGeom>
          <a:noFill/>
        </p:spPr>
        <p:txBody>
          <a:bodyPr wrap="square" lIns="0" rIns="0" tIns="0" bIns="0">
            <a:spAutoFit/>
          </a:bodyPr>
          <a:lstStyle/>
          <a:p>
            <a:pPr algn="ctr">
              <a:lnSpc>
                <a:spcPct val="122000"/>
              </a:lnSpc>
              <a:spcBef>
                <a:spcPts val="0"/>
              </a:spcBef>
              <a:spcAft>
                <a:spcPts val="0"/>
              </a:spcAft>
            </a:pPr>
            <a:r>
              <a:rPr sz="1700" b="1" i="0">
                <a:solidFill>
                  <a:srgbClr val="8490A2"/>
                </a:solidFill>
                <a:latin typeface="Segoe UI"/>
              </a:rPr>
              <a:t>○</a:t>
            </a:r>
          </a:p>
        </p:txBody>
      </p:sp>
      <p:sp>
        <p:nvSpPr>
          <p:cNvPr id="21" name="TextBox 20"/>
          <p:cNvSpPr txBox="1"/>
          <p:nvPr/>
        </p:nvSpPr>
        <p:spPr>
          <a:xfrm>
            <a:off x="8760042" y="2340864"/>
            <a:ext cx="658368" cy="292608"/>
          </a:xfrm>
          <a:prstGeom prst="rect">
            <a:avLst/>
          </a:prstGeom>
          <a:noFill/>
        </p:spPr>
        <p:txBody>
          <a:bodyPr wrap="square" lIns="0" rIns="0" tIns="0" bIns="0">
            <a:spAutoFit/>
          </a:bodyPr>
          <a:lstStyle/>
          <a:p>
            <a:pPr algn="ctr">
              <a:lnSpc>
                <a:spcPct val="122000"/>
              </a:lnSpc>
              <a:spcBef>
                <a:spcPts val="0"/>
              </a:spcBef>
              <a:spcAft>
                <a:spcPts val="0"/>
              </a:spcAft>
            </a:pPr>
            <a:r>
              <a:rPr sz="1700" b="1" i="0">
                <a:solidFill>
                  <a:srgbClr val="8490A2"/>
                </a:solidFill>
                <a:latin typeface="Segoe UI"/>
              </a:rPr>
              <a:t>○</a:t>
            </a:r>
          </a:p>
        </p:txBody>
      </p:sp>
      <p:sp>
        <p:nvSpPr>
          <p:cNvPr id="22" name="TextBox 21"/>
          <p:cNvSpPr txBox="1"/>
          <p:nvPr/>
        </p:nvSpPr>
        <p:spPr>
          <a:xfrm>
            <a:off x="10450402" y="2340864"/>
            <a:ext cx="658368" cy="292608"/>
          </a:xfrm>
          <a:prstGeom prst="rect">
            <a:avLst/>
          </a:prstGeom>
          <a:noFill/>
        </p:spPr>
        <p:txBody>
          <a:bodyPr wrap="square" lIns="0" rIns="0" tIns="0" bIns="0">
            <a:spAutoFit/>
          </a:bodyPr>
          <a:lstStyle/>
          <a:p>
            <a:pPr algn="ctr">
              <a:lnSpc>
                <a:spcPct val="122000"/>
              </a:lnSpc>
              <a:spcBef>
                <a:spcPts val="0"/>
              </a:spcBef>
              <a:spcAft>
                <a:spcPts val="0"/>
              </a:spcAft>
            </a:pPr>
            <a:r>
              <a:rPr sz="1700" b="1" i="0">
                <a:solidFill>
                  <a:srgbClr val="8490A2"/>
                </a:solidFill>
                <a:latin typeface="Segoe UI"/>
              </a:rPr>
              <a:t>○</a:t>
            </a:r>
          </a:p>
        </p:txBody>
      </p:sp>
      <p:sp>
        <p:nvSpPr>
          <p:cNvPr id="23" name="Rounded Rectangle 22"/>
          <p:cNvSpPr/>
          <p:nvPr/>
        </p:nvSpPr>
        <p:spPr>
          <a:xfrm>
            <a:off x="566928" y="2852928"/>
            <a:ext cx="11057839" cy="548640"/>
          </a:xfrm>
          <a:prstGeom prst="roundRect">
            <a:avLst>
              <a:gd name="adj" fmla="val 12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8096" y="2990088"/>
            <a:ext cx="2331720" cy="256032"/>
          </a:xfrm>
          <a:prstGeom prst="rect">
            <a:avLst/>
          </a:prstGeom>
          <a:noFill/>
        </p:spPr>
        <p:txBody>
          <a:bodyPr wrap="square" lIns="0" rIns="0" tIns="0" bIns="0">
            <a:spAutoFit/>
          </a:bodyPr>
          <a:lstStyle/>
          <a:p>
            <a:pPr algn="l">
              <a:lnSpc>
                <a:spcPct val="122000"/>
              </a:lnSpc>
              <a:spcBef>
                <a:spcPts val="0"/>
              </a:spcBef>
              <a:spcAft>
                <a:spcPts val="0"/>
              </a:spcAft>
            </a:pPr>
            <a:r>
              <a:rPr sz="1050" b="1" i="0">
                <a:solidFill>
                  <a:srgbClr val="4A5568"/>
                </a:solidFill>
                <a:latin typeface="Segoe UI"/>
              </a:rPr>
              <a:t>Chalo, Tummoc &amp; similar</a:t>
            </a:r>
          </a:p>
        </p:txBody>
      </p:sp>
      <p:sp>
        <p:nvSpPr>
          <p:cNvPr id="25" name="TextBox 24"/>
          <p:cNvSpPr txBox="1"/>
          <p:nvPr/>
        </p:nvSpPr>
        <p:spPr>
          <a:xfrm>
            <a:off x="3688963" y="2980944"/>
            <a:ext cx="658368" cy="292608"/>
          </a:xfrm>
          <a:prstGeom prst="rect">
            <a:avLst/>
          </a:prstGeom>
          <a:noFill/>
        </p:spPr>
        <p:txBody>
          <a:bodyPr wrap="square" lIns="0" rIns="0" tIns="0" bIns="0">
            <a:spAutoFit/>
          </a:bodyPr>
          <a:lstStyle/>
          <a:p>
            <a:pPr algn="ctr">
              <a:lnSpc>
                <a:spcPct val="122000"/>
              </a:lnSpc>
              <a:spcBef>
                <a:spcPts val="0"/>
              </a:spcBef>
              <a:spcAft>
                <a:spcPts val="0"/>
              </a:spcAft>
            </a:pPr>
            <a:r>
              <a:rPr sz="1900" b="1" i="0">
                <a:solidFill>
                  <a:srgbClr val="1B3F8B"/>
                </a:solidFill>
                <a:latin typeface="Segoe UI"/>
              </a:rPr>
              <a:t>●</a:t>
            </a:r>
          </a:p>
        </p:txBody>
      </p:sp>
      <p:sp>
        <p:nvSpPr>
          <p:cNvPr id="26" name="TextBox 25"/>
          <p:cNvSpPr txBox="1"/>
          <p:nvPr/>
        </p:nvSpPr>
        <p:spPr>
          <a:xfrm>
            <a:off x="5379322" y="2980944"/>
            <a:ext cx="658368" cy="292608"/>
          </a:xfrm>
          <a:prstGeom prst="rect">
            <a:avLst/>
          </a:prstGeom>
          <a:noFill/>
        </p:spPr>
        <p:txBody>
          <a:bodyPr wrap="square" lIns="0" rIns="0" tIns="0" bIns="0">
            <a:spAutoFit/>
          </a:bodyPr>
          <a:lstStyle/>
          <a:p>
            <a:pPr algn="ctr">
              <a:lnSpc>
                <a:spcPct val="122000"/>
              </a:lnSpc>
              <a:spcBef>
                <a:spcPts val="0"/>
              </a:spcBef>
              <a:spcAft>
                <a:spcPts val="0"/>
              </a:spcAft>
            </a:pPr>
            <a:r>
              <a:rPr sz="1900" b="1" i="0">
                <a:solidFill>
                  <a:srgbClr val="C8860E"/>
                </a:solidFill>
                <a:latin typeface="Segoe UI"/>
              </a:rPr>
              <a:t>◐</a:t>
            </a:r>
          </a:p>
        </p:txBody>
      </p:sp>
      <p:sp>
        <p:nvSpPr>
          <p:cNvPr id="27" name="TextBox 26"/>
          <p:cNvSpPr txBox="1"/>
          <p:nvPr/>
        </p:nvSpPr>
        <p:spPr>
          <a:xfrm>
            <a:off x="7069682" y="2980944"/>
            <a:ext cx="658368" cy="292608"/>
          </a:xfrm>
          <a:prstGeom prst="rect">
            <a:avLst/>
          </a:prstGeom>
          <a:noFill/>
        </p:spPr>
        <p:txBody>
          <a:bodyPr wrap="square" lIns="0" rIns="0" tIns="0" bIns="0">
            <a:spAutoFit/>
          </a:bodyPr>
          <a:lstStyle/>
          <a:p>
            <a:pPr algn="ctr">
              <a:lnSpc>
                <a:spcPct val="122000"/>
              </a:lnSpc>
              <a:spcBef>
                <a:spcPts val="0"/>
              </a:spcBef>
              <a:spcAft>
                <a:spcPts val="0"/>
              </a:spcAft>
            </a:pPr>
            <a:r>
              <a:rPr sz="1700" b="1" i="0">
                <a:solidFill>
                  <a:srgbClr val="8490A2"/>
                </a:solidFill>
                <a:latin typeface="Segoe UI"/>
              </a:rPr>
              <a:t>○</a:t>
            </a:r>
          </a:p>
        </p:txBody>
      </p:sp>
      <p:sp>
        <p:nvSpPr>
          <p:cNvPr id="28" name="TextBox 27"/>
          <p:cNvSpPr txBox="1"/>
          <p:nvPr/>
        </p:nvSpPr>
        <p:spPr>
          <a:xfrm>
            <a:off x="8760042" y="2980944"/>
            <a:ext cx="658368" cy="292608"/>
          </a:xfrm>
          <a:prstGeom prst="rect">
            <a:avLst/>
          </a:prstGeom>
          <a:noFill/>
        </p:spPr>
        <p:txBody>
          <a:bodyPr wrap="square" lIns="0" rIns="0" tIns="0" bIns="0">
            <a:spAutoFit/>
          </a:bodyPr>
          <a:lstStyle/>
          <a:p>
            <a:pPr algn="ctr">
              <a:lnSpc>
                <a:spcPct val="122000"/>
              </a:lnSpc>
              <a:spcBef>
                <a:spcPts val="0"/>
              </a:spcBef>
              <a:spcAft>
                <a:spcPts val="0"/>
              </a:spcAft>
            </a:pPr>
            <a:r>
              <a:rPr sz="1700" b="1" i="0">
                <a:solidFill>
                  <a:srgbClr val="8490A2"/>
                </a:solidFill>
                <a:latin typeface="Segoe UI"/>
              </a:rPr>
              <a:t>○</a:t>
            </a:r>
          </a:p>
        </p:txBody>
      </p:sp>
      <p:sp>
        <p:nvSpPr>
          <p:cNvPr id="29" name="TextBox 28"/>
          <p:cNvSpPr txBox="1"/>
          <p:nvPr/>
        </p:nvSpPr>
        <p:spPr>
          <a:xfrm>
            <a:off x="10450402" y="2980944"/>
            <a:ext cx="658368" cy="292608"/>
          </a:xfrm>
          <a:prstGeom prst="rect">
            <a:avLst/>
          </a:prstGeom>
          <a:noFill/>
        </p:spPr>
        <p:txBody>
          <a:bodyPr wrap="square" lIns="0" rIns="0" tIns="0" bIns="0">
            <a:spAutoFit/>
          </a:bodyPr>
          <a:lstStyle/>
          <a:p>
            <a:pPr algn="ctr">
              <a:lnSpc>
                <a:spcPct val="122000"/>
              </a:lnSpc>
              <a:spcBef>
                <a:spcPts val="0"/>
              </a:spcBef>
              <a:spcAft>
                <a:spcPts val="0"/>
              </a:spcAft>
            </a:pPr>
            <a:r>
              <a:rPr sz="1700" b="1" i="0">
                <a:solidFill>
                  <a:srgbClr val="8490A2"/>
                </a:solidFill>
                <a:latin typeface="Segoe UI"/>
              </a:rPr>
              <a:t>○</a:t>
            </a:r>
          </a:p>
        </p:txBody>
      </p:sp>
      <p:sp>
        <p:nvSpPr>
          <p:cNvPr id="30" name="Rounded Rectangle 29"/>
          <p:cNvSpPr/>
          <p:nvPr/>
        </p:nvSpPr>
        <p:spPr>
          <a:xfrm>
            <a:off x="566928" y="3493008"/>
            <a:ext cx="11057839" cy="548640"/>
          </a:xfrm>
          <a:prstGeom prst="roundRect">
            <a:avLst>
              <a:gd name="adj" fmla="val 12000"/>
            </a:avLst>
          </a:prstGeom>
          <a:solidFill>
            <a:srgbClr val="E9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68096" y="3630168"/>
            <a:ext cx="2331720" cy="256032"/>
          </a:xfrm>
          <a:prstGeom prst="rect">
            <a:avLst/>
          </a:prstGeom>
          <a:noFill/>
        </p:spPr>
        <p:txBody>
          <a:bodyPr wrap="square" lIns="0" rIns="0" tIns="0" bIns="0">
            <a:spAutoFit/>
          </a:bodyPr>
          <a:lstStyle/>
          <a:p>
            <a:pPr algn="l">
              <a:lnSpc>
                <a:spcPct val="122000"/>
              </a:lnSpc>
              <a:spcBef>
                <a:spcPts val="0"/>
              </a:spcBef>
              <a:spcAft>
                <a:spcPts val="0"/>
              </a:spcAft>
            </a:pPr>
            <a:r>
              <a:rPr sz="1050" b="1" i="0">
                <a:solidFill>
                  <a:srgbClr val="10275C"/>
                </a:solidFill>
                <a:latin typeface="Segoe UI"/>
              </a:rPr>
              <a:t>PRAVAAH</a:t>
            </a:r>
          </a:p>
        </p:txBody>
      </p:sp>
      <p:sp>
        <p:nvSpPr>
          <p:cNvPr id="32" name="TextBox 31"/>
          <p:cNvSpPr txBox="1"/>
          <p:nvPr/>
        </p:nvSpPr>
        <p:spPr>
          <a:xfrm>
            <a:off x="3688963" y="3621024"/>
            <a:ext cx="658368" cy="292608"/>
          </a:xfrm>
          <a:prstGeom prst="rect">
            <a:avLst/>
          </a:prstGeom>
          <a:noFill/>
        </p:spPr>
        <p:txBody>
          <a:bodyPr wrap="square" lIns="0" rIns="0" tIns="0" bIns="0">
            <a:spAutoFit/>
          </a:bodyPr>
          <a:lstStyle/>
          <a:p>
            <a:pPr algn="ctr">
              <a:lnSpc>
                <a:spcPct val="122000"/>
              </a:lnSpc>
              <a:spcBef>
                <a:spcPts val="0"/>
              </a:spcBef>
              <a:spcAft>
                <a:spcPts val="0"/>
              </a:spcAft>
            </a:pPr>
            <a:r>
              <a:rPr sz="1900" b="1" i="0">
                <a:solidFill>
                  <a:srgbClr val="138808"/>
                </a:solidFill>
                <a:latin typeface="Segoe UI"/>
              </a:rPr>
              <a:t>●</a:t>
            </a:r>
          </a:p>
        </p:txBody>
      </p:sp>
      <p:sp>
        <p:nvSpPr>
          <p:cNvPr id="33" name="TextBox 32"/>
          <p:cNvSpPr txBox="1"/>
          <p:nvPr/>
        </p:nvSpPr>
        <p:spPr>
          <a:xfrm>
            <a:off x="5379322" y="3621024"/>
            <a:ext cx="658368" cy="292608"/>
          </a:xfrm>
          <a:prstGeom prst="rect">
            <a:avLst/>
          </a:prstGeom>
          <a:noFill/>
        </p:spPr>
        <p:txBody>
          <a:bodyPr wrap="square" lIns="0" rIns="0" tIns="0" bIns="0">
            <a:spAutoFit/>
          </a:bodyPr>
          <a:lstStyle/>
          <a:p>
            <a:pPr algn="ctr">
              <a:lnSpc>
                <a:spcPct val="122000"/>
              </a:lnSpc>
              <a:spcBef>
                <a:spcPts val="0"/>
              </a:spcBef>
              <a:spcAft>
                <a:spcPts val="0"/>
              </a:spcAft>
            </a:pPr>
            <a:r>
              <a:rPr sz="1900" b="1" i="0">
                <a:solidFill>
                  <a:srgbClr val="138808"/>
                </a:solidFill>
                <a:latin typeface="Segoe UI"/>
              </a:rPr>
              <a:t>●</a:t>
            </a:r>
          </a:p>
        </p:txBody>
      </p:sp>
      <p:sp>
        <p:nvSpPr>
          <p:cNvPr id="34" name="TextBox 33"/>
          <p:cNvSpPr txBox="1"/>
          <p:nvPr/>
        </p:nvSpPr>
        <p:spPr>
          <a:xfrm>
            <a:off x="7069682" y="3621024"/>
            <a:ext cx="658368" cy="292608"/>
          </a:xfrm>
          <a:prstGeom prst="rect">
            <a:avLst/>
          </a:prstGeom>
          <a:noFill/>
        </p:spPr>
        <p:txBody>
          <a:bodyPr wrap="square" lIns="0" rIns="0" tIns="0" bIns="0">
            <a:spAutoFit/>
          </a:bodyPr>
          <a:lstStyle/>
          <a:p>
            <a:pPr algn="ctr">
              <a:lnSpc>
                <a:spcPct val="122000"/>
              </a:lnSpc>
              <a:spcBef>
                <a:spcPts val="0"/>
              </a:spcBef>
              <a:spcAft>
                <a:spcPts val="0"/>
              </a:spcAft>
            </a:pPr>
            <a:r>
              <a:rPr sz="1900" b="1" i="0">
                <a:solidFill>
                  <a:srgbClr val="138808"/>
                </a:solidFill>
                <a:latin typeface="Segoe UI"/>
              </a:rPr>
              <a:t>●</a:t>
            </a:r>
          </a:p>
        </p:txBody>
      </p:sp>
      <p:sp>
        <p:nvSpPr>
          <p:cNvPr id="35" name="TextBox 34"/>
          <p:cNvSpPr txBox="1"/>
          <p:nvPr/>
        </p:nvSpPr>
        <p:spPr>
          <a:xfrm>
            <a:off x="8760042" y="3621024"/>
            <a:ext cx="658368" cy="292608"/>
          </a:xfrm>
          <a:prstGeom prst="rect">
            <a:avLst/>
          </a:prstGeom>
          <a:noFill/>
        </p:spPr>
        <p:txBody>
          <a:bodyPr wrap="square" lIns="0" rIns="0" tIns="0" bIns="0">
            <a:spAutoFit/>
          </a:bodyPr>
          <a:lstStyle/>
          <a:p>
            <a:pPr algn="ctr">
              <a:lnSpc>
                <a:spcPct val="122000"/>
              </a:lnSpc>
              <a:spcBef>
                <a:spcPts val="0"/>
              </a:spcBef>
              <a:spcAft>
                <a:spcPts val="0"/>
              </a:spcAft>
            </a:pPr>
            <a:r>
              <a:rPr sz="1900" b="1" i="0">
                <a:solidFill>
                  <a:srgbClr val="138808"/>
                </a:solidFill>
                <a:latin typeface="Segoe UI"/>
              </a:rPr>
              <a:t>●</a:t>
            </a:r>
          </a:p>
        </p:txBody>
      </p:sp>
      <p:sp>
        <p:nvSpPr>
          <p:cNvPr id="36" name="TextBox 35"/>
          <p:cNvSpPr txBox="1"/>
          <p:nvPr/>
        </p:nvSpPr>
        <p:spPr>
          <a:xfrm>
            <a:off x="10450402" y="3621024"/>
            <a:ext cx="658368" cy="292608"/>
          </a:xfrm>
          <a:prstGeom prst="rect">
            <a:avLst/>
          </a:prstGeom>
          <a:noFill/>
        </p:spPr>
        <p:txBody>
          <a:bodyPr wrap="square" lIns="0" rIns="0" tIns="0" bIns="0">
            <a:spAutoFit/>
          </a:bodyPr>
          <a:lstStyle/>
          <a:p>
            <a:pPr algn="ctr">
              <a:lnSpc>
                <a:spcPct val="122000"/>
              </a:lnSpc>
              <a:spcBef>
                <a:spcPts val="0"/>
              </a:spcBef>
              <a:spcAft>
                <a:spcPts val="0"/>
              </a:spcAft>
            </a:pPr>
            <a:r>
              <a:rPr sz="1900" b="1" i="0">
                <a:solidFill>
                  <a:srgbClr val="138808"/>
                </a:solidFill>
                <a:latin typeface="Segoe UI"/>
              </a:rPr>
              <a:t>●</a:t>
            </a:r>
          </a:p>
        </p:txBody>
      </p:sp>
      <p:sp>
        <p:nvSpPr>
          <p:cNvPr id="37" name="TextBox 36"/>
          <p:cNvSpPr txBox="1"/>
          <p:nvPr/>
        </p:nvSpPr>
        <p:spPr>
          <a:xfrm>
            <a:off x="566928" y="4151376"/>
            <a:ext cx="11057839" cy="219456"/>
          </a:xfrm>
          <a:prstGeom prst="rect">
            <a:avLst/>
          </a:prstGeom>
          <a:noFill/>
        </p:spPr>
        <p:txBody>
          <a:bodyPr wrap="square" lIns="0" rIns="0" tIns="0" bIns="0">
            <a:spAutoFit/>
          </a:bodyPr>
          <a:lstStyle/>
          <a:p>
            <a:pPr algn="l">
              <a:lnSpc>
                <a:spcPct val="122000"/>
              </a:lnSpc>
              <a:spcBef>
                <a:spcPts val="0"/>
              </a:spcBef>
              <a:spcAft>
                <a:spcPts val="0"/>
              </a:spcAft>
            </a:pPr>
            <a:r>
              <a:rPr sz="1100" b="1">
                <a:solidFill>
                  <a:srgbClr val="138808"/>
                </a:solidFill>
                <a:latin typeface="Segoe UI"/>
              </a:rPr>
              <a:t>●</a:t>
            </a:r>
            <a:r>
              <a:rPr sz="950" b="0">
                <a:solidFill>
                  <a:srgbClr val="8490A2"/>
                </a:solidFill>
                <a:latin typeface="Segoe UI"/>
              </a:rPr>
              <a:t>  full   </a:t>
            </a:r>
            <a:r>
              <a:rPr sz="1100" b="1">
                <a:solidFill>
                  <a:srgbClr val="C8860E"/>
                </a:solidFill>
                <a:latin typeface="Segoe UI"/>
              </a:rPr>
              <a:t>◐</a:t>
            </a:r>
            <a:r>
              <a:rPr sz="950" b="0">
                <a:solidFill>
                  <a:srgbClr val="8490A2"/>
                </a:solidFill>
                <a:latin typeface="Segoe UI"/>
              </a:rPr>
              <a:t>  partial / route-level average   </a:t>
            </a:r>
            <a:r>
              <a:rPr sz="1100" b="1">
                <a:solidFill>
                  <a:srgbClr val="8490A2"/>
                </a:solidFill>
                <a:latin typeface="Segoe UI"/>
              </a:rPr>
              <a:t>○</a:t>
            </a:r>
            <a:r>
              <a:rPr sz="950" b="0">
                <a:solidFill>
                  <a:srgbClr val="8490A2"/>
                </a:solidFill>
                <a:latin typeface="Segoe UI"/>
              </a:rPr>
              <a:t>  not offered</a:t>
            </a:r>
          </a:p>
        </p:txBody>
      </p:sp>
      <p:sp>
        <p:nvSpPr>
          <p:cNvPr id="38" name="Rounded Rectangle 37"/>
          <p:cNvSpPr/>
          <p:nvPr/>
        </p:nvSpPr>
        <p:spPr>
          <a:xfrm>
            <a:off x="566928" y="4517136"/>
            <a:ext cx="3515258" cy="1406956"/>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566928" y="4517136"/>
            <a:ext cx="45720" cy="1406956"/>
          </a:xfrm>
          <a:prstGeom prst="roundRect">
            <a:avLst>
              <a:gd name="adj" fmla="val 50000"/>
            </a:avLst>
          </a:prstGeom>
          <a:solidFill>
            <a:srgbClr val="E27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04672" y="4681728"/>
            <a:ext cx="3039770" cy="1077772"/>
          </a:xfrm>
          <a:prstGeom prst="rect">
            <a:avLst/>
          </a:prstGeom>
          <a:noFill/>
        </p:spPr>
        <p:txBody>
          <a:bodyPr wrap="square" lIns="0" rIns="0" tIns="0" bIns="0">
            <a:spAutoFit/>
          </a:bodyPr>
          <a:lstStyle/>
          <a:p>
            <a:pPr algn="l">
              <a:lnSpc>
                <a:spcPct val="124000"/>
              </a:lnSpc>
              <a:spcBef>
                <a:spcPts val="0"/>
              </a:spcBef>
              <a:spcAft>
                <a:spcPts val="600"/>
              </a:spcAft>
            </a:pPr>
            <a:r>
              <a:rPr sz="1100" b="1" i="0">
                <a:solidFill>
                  <a:srgbClr val="E2761B"/>
                </a:solidFill>
                <a:latin typeface="Segoe UI"/>
              </a:rPr>
              <a:t>Predictive control room</a:t>
            </a:r>
          </a:p>
          <a:p>
            <a:pPr algn="l">
              <a:lnSpc>
                <a:spcPct val="124000"/>
              </a:lnSpc>
              <a:spcBef>
                <a:spcPts val="0"/>
              </a:spcBef>
              <a:spcAft>
                <a:spcPts val="0"/>
              </a:spcAft>
            </a:pPr>
            <a:r>
              <a:rPr sz="1050" b="0" i="0">
                <a:solidFill>
                  <a:srgbClr val="4A5568"/>
                </a:solidFill>
                <a:latin typeface="Segoe UI"/>
              </a:rPr>
              <a:t>Forecast hotspots with lead time, and score interventions before they are ordered. No consumer app wants this relationship.</a:t>
            </a:r>
          </a:p>
        </p:txBody>
      </p:sp>
      <p:sp>
        <p:nvSpPr>
          <p:cNvPr id="41" name="Rounded Rectangle 40"/>
          <p:cNvSpPr/>
          <p:nvPr/>
        </p:nvSpPr>
        <p:spPr>
          <a:xfrm>
            <a:off x="4338218" y="4517136"/>
            <a:ext cx="3515258" cy="1406956"/>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4338218" y="4517136"/>
            <a:ext cx="45720" cy="1406956"/>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575962" y="4681728"/>
            <a:ext cx="3039770" cy="1077772"/>
          </a:xfrm>
          <a:prstGeom prst="rect">
            <a:avLst/>
          </a:prstGeom>
          <a:noFill/>
        </p:spPr>
        <p:txBody>
          <a:bodyPr wrap="square" lIns="0" rIns="0" tIns="0" bIns="0">
            <a:spAutoFit/>
          </a:bodyPr>
          <a:lstStyle/>
          <a:p>
            <a:pPr algn="l">
              <a:lnSpc>
                <a:spcPct val="124000"/>
              </a:lnSpc>
              <a:spcBef>
                <a:spcPts val="0"/>
              </a:spcBef>
              <a:spcAft>
                <a:spcPts val="600"/>
              </a:spcAft>
            </a:pPr>
            <a:r>
              <a:rPr sz="1100" b="1" i="0">
                <a:solidFill>
                  <a:srgbClr val="1B3F8B"/>
                </a:solidFill>
                <a:latin typeface="Segoe UI"/>
              </a:rPr>
              <a:t>Your stop, your time</a:t>
            </a:r>
          </a:p>
          <a:p>
            <a:pPr algn="l">
              <a:lnSpc>
                <a:spcPct val="124000"/>
              </a:lnSpc>
              <a:spcBef>
                <a:spcPts val="0"/>
              </a:spcBef>
              <a:spcAft>
                <a:spcPts val="0"/>
              </a:spcAft>
            </a:pPr>
            <a:r>
              <a:rPr sz="1050" b="0" i="0">
                <a:solidFill>
                  <a:srgbClr val="4A5568"/>
                </a:solidFill>
                <a:latin typeface="Segoe UI"/>
              </a:rPr>
              <a:t>Not a route-level historical average. It is the load of that vehicle when it reaches you, propagated stop by stop.</a:t>
            </a:r>
          </a:p>
        </p:txBody>
      </p:sp>
      <p:sp>
        <p:nvSpPr>
          <p:cNvPr id="44" name="Rounded Rectangle 43"/>
          <p:cNvSpPr/>
          <p:nvPr/>
        </p:nvSpPr>
        <p:spPr>
          <a:xfrm>
            <a:off x="8109508" y="4517136"/>
            <a:ext cx="3515258" cy="1406956"/>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8109508" y="4517136"/>
            <a:ext cx="45720" cy="1406956"/>
          </a:xfrm>
          <a:prstGeom prst="roundRect">
            <a:avLst>
              <a:gd name="adj" fmla="val 50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347252" y="4681728"/>
            <a:ext cx="3039770" cy="1077772"/>
          </a:xfrm>
          <a:prstGeom prst="rect">
            <a:avLst/>
          </a:prstGeom>
          <a:noFill/>
        </p:spPr>
        <p:txBody>
          <a:bodyPr wrap="square" lIns="0" rIns="0" tIns="0" bIns="0">
            <a:spAutoFit/>
          </a:bodyPr>
          <a:lstStyle/>
          <a:p>
            <a:pPr algn="l">
              <a:lnSpc>
                <a:spcPct val="124000"/>
              </a:lnSpc>
              <a:spcBef>
                <a:spcPts val="0"/>
              </a:spcBef>
              <a:spcAft>
                <a:spcPts val="600"/>
              </a:spcAft>
            </a:pPr>
            <a:r>
              <a:rPr sz="1100" b="1" i="0">
                <a:solidFill>
                  <a:srgbClr val="138808"/>
                </a:solidFill>
                <a:latin typeface="Segoe UI"/>
              </a:rPr>
              <a:t>Spreading the peak</a:t>
            </a:r>
          </a:p>
          <a:p>
            <a:pPr algn="l">
              <a:lnSpc>
                <a:spcPct val="124000"/>
              </a:lnSpc>
              <a:spcBef>
                <a:spcPts val="0"/>
              </a:spcBef>
              <a:spcAft>
                <a:spcPts val="0"/>
              </a:spcAft>
            </a:pPr>
            <a:r>
              <a:rPr sz="1050" b="0" i="0">
                <a:solidFill>
                  <a:srgbClr val="4A5568"/>
                </a:solidFill>
                <a:latin typeface="Segoe UI"/>
              </a:rPr>
              <a:t>Telling one traveller to leave ten minutes later takes one body out of the fullest bus. Applied across a city, the peak itself flattens, and no new vehicle was bought to do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10896"/>
            <a:ext cx="158496" cy="6858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25424" y="310896"/>
            <a:ext cx="158496" cy="68580"/>
          </a:xfrm>
          <a:prstGeom prst="rect">
            <a:avLst/>
          </a:prstGeom>
          <a:solidFill>
            <a:srgbClr val="102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83920" y="310896"/>
            <a:ext cx="158496" cy="6858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88720" y="256032"/>
            <a:ext cx="11057839" cy="237744"/>
          </a:xfrm>
          <a:prstGeom prst="rect">
            <a:avLst/>
          </a:prstGeom>
          <a:noFill/>
        </p:spPr>
        <p:txBody>
          <a:bodyPr wrap="square" lIns="0" rIns="0" tIns="0" bIns="0">
            <a:spAutoFit/>
          </a:bodyPr>
          <a:lstStyle/>
          <a:p>
            <a:pPr algn="l">
              <a:lnSpc>
                <a:spcPct val="122000"/>
              </a:lnSpc>
              <a:spcBef>
                <a:spcPts val="0"/>
              </a:spcBef>
              <a:spcAft>
                <a:spcPts val="0"/>
              </a:spcAft>
            </a:pPr>
            <a:r>
              <a:rPr sz="1000" b="1" i="0">
                <a:solidFill>
                  <a:srgbClr val="E2761B"/>
                </a:solidFill>
                <a:latin typeface="Segoe UI"/>
              </a:rPr>
              <a:t>TECHNICAL APPROACH</a:t>
            </a:r>
          </a:p>
        </p:txBody>
      </p:sp>
      <p:sp>
        <p:nvSpPr>
          <p:cNvPr id="6" name="TextBox 5"/>
          <p:cNvSpPr txBox="1"/>
          <p:nvPr/>
        </p:nvSpPr>
        <p:spPr>
          <a:xfrm>
            <a:off x="566928" y="548640"/>
            <a:ext cx="11057839" cy="457200"/>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0275C"/>
                </a:solidFill>
                <a:latin typeface="Segoe UI"/>
              </a:rPr>
              <a:t>System architecture: five planes, stable contracts</a:t>
            </a:r>
          </a:p>
        </p:txBody>
      </p:sp>
      <p:sp>
        <p:nvSpPr>
          <p:cNvPr id="7" name="TextBox 6"/>
          <p:cNvSpPr txBox="1"/>
          <p:nvPr/>
        </p:nvSpPr>
        <p:spPr>
          <a:xfrm>
            <a:off x="566928" y="1060704"/>
            <a:ext cx="10783519" cy="292608"/>
          </a:xfrm>
          <a:prstGeom prst="rect">
            <a:avLst/>
          </a:prstGeom>
          <a:noFill/>
        </p:spPr>
        <p:txBody>
          <a:bodyPr wrap="square" lIns="0" rIns="0" tIns="0" bIns="0">
            <a:spAutoFit/>
          </a:bodyPr>
          <a:lstStyle/>
          <a:p>
            <a:pPr algn="l">
              <a:lnSpc>
                <a:spcPct val="122000"/>
              </a:lnSpc>
              <a:spcBef>
                <a:spcPts val="0"/>
              </a:spcBef>
              <a:spcAft>
                <a:spcPts val="0"/>
              </a:spcAft>
            </a:pPr>
            <a:r>
              <a:rPr sz="1250" b="0" i="0">
                <a:solidFill>
                  <a:srgbClr val="8490A2"/>
                </a:solidFill>
                <a:latin typeface="Segoe UI"/>
              </a:rPr>
              <a:t>Adapters isolate each city's feed. Everything downstream uses one canonical schema, so a new city is a simple config change.</a:t>
            </a:r>
          </a:p>
        </p:txBody>
      </p:sp>
      <p:sp>
        <p:nvSpPr>
          <p:cNvPr id="8" name="Rectangle 7"/>
          <p:cNvSpPr/>
          <p:nvPr/>
        </p:nvSpPr>
        <p:spPr>
          <a:xfrm>
            <a:off x="566928" y="1371600"/>
            <a:ext cx="11057839" cy="952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66928" y="6419088"/>
            <a:ext cx="10509199" cy="201168"/>
          </a:xfrm>
          <a:prstGeom prst="rect">
            <a:avLst/>
          </a:prstGeom>
          <a:noFill/>
        </p:spPr>
        <p:txBody>
          <a:bodyPr wrap="square" lIns="0" rIns="0" tIns="0" bIns="0">
            <a:spAutoFit/>
          </a:bodyPr>
          <a:lstStyle/>
          <a:p>
            <a:pPr algn="l">
              <a:lnSpc>
                <a:spcPct val="122000"/>
              </a:lnSpc>
              <a:spcBef>
                <a:spcPts val="0"/>
              </a:spcBef>
              <a:spcAft>
                <a:spcPts val="0"/>
              </a:spcAft>
            </a:pPr>
            <a:r>
              <a:rPr sz="850" b="0" i="0">
                <a:solidFill>
                  <a:srgbClr val="8490A2"/>
                </a:solidFill>
                <a:latin typeface="Segoe UI"/>
              </a:rPr>
              <a:t>PRAVAAH  |  Intelligent Public Transport Crowding &amp; Route Prediction</a:t>
            </a:r>
          </a:p>
        </p:txBody>
      </p:sp>
      <p:sp>
        <p:nvSpPr>
          <p:cNvPr id="10" name="TextBox 9"/>
          <p:cNvSpPr txBox="1"/>
          <p:nvPr/>
        </p:nvSpPr>
        <p:spPr>
          <a:xfrm>
            <a:off x="11076127" y="6419088"/>
            <a:ext cx="548640" cy="201168"/>
          </a:xfrm>
          <a:prstGeom prst="rect">
            <a:avLst/>
          </a:prstGeom>
          <a:noFill/>
        </p:spPr>
        <p:txBody>
          <a:bodyPr wrap="square" lIns="0" rIns="0" tIns="0" bIns="0">
            <a:spAutoFit/>
          </a:bodyPr>
          <a:lstStyle/>
          <a:p>
            <a:pPr algn="r">
              <a:lnSpc>
                <a:spcPct val="122000"/>
              </a:lnSpc>
              <a:spcBef>
                <a:spcPts val="0"/>
              </a:spcBef>
              <a:spcAft>
                <a:spcPts val="0"/>
              </a:spcAft>
            </a:pPr>
            <a:r>
              <a:rPr sz="900" b="1" i="0">
                <a:solidFill>
                  <a:srgbClr val="10275C"/>
                </a:solidFill>
                <a:latin typeface="Segoe UI"/>
              </a:rPr>
              <a:t>6</a:t>
            </a:r>
          </a:p>
        </p:txBody>
      </p:sp>
      <p:sp>
        <p:nvSpPr>
          <p:cNvPr id="11" name="Rounded Rectangle 10"/>
          <p:cNvSpPr/>
          <p:nvPr/>
        </p:nvSpPr>
        <p:spPr>
          <a:xfrm>
            <a:off x="566928" y="1609344"/>
            <a:ext cx="1975104" cy="2121408"/>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66928" y="1609344"/>
            <a:ext cx="1975104" cy="365760"/>
          </a:xfrm>
          <a:prstGeom prst="roundRect">
            <a:avLst>
              <a:gd name="adj" fmla="val 12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566928" y="1810512"/>
            <a:ext cx="1975104" cy="164592"/>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31520" y="1700784"/>
            <a:ext cx="1645920" cy="237744"/>
          </a:xfrm>
          <a:prstGeom prst="rect">
            <a:avLst/>
          </a:prstGeom>
          <a:noFill/>
        </p:spPr>
        <p:txBody>
          <a:bodyPr wrap="square" lIns="0" rIns="0" tIns="0" bIns="0">
            <a:spAutoFit/>
          </a:bodyPr>
          <a:lstStyle/>
          <a:p>
            <a:pPr algn="l">
              <a:lnSpc>
                <a:spcPct val="122000"/>
              </a:lnSpc>
              <a:spcBef>
                <a:spcPts val="0"/>
              </a:spcBef>
              <a:spcAft>
                <a:spcPts val="0"/>
              </a:spcAft>
            </a:pPr>
            <a:r>
              <a:rPr sz="1050" b="1" i="0">
                <a:solidFill>
                  <a:srgbClr val="FFFFFF"/>
                </a:solidFill>
                <a:latin typeface="Segoe UI"/>
              </a:rPr>
              <a:t>SOURCES</a:t>
            </a:r>
          </a:p>
        </p:txBody>
      </p:sp>
      <p:sp>
        <p:nvSpPr>
          <p:cNvPr id="15" name="TextBox 14"/>
          <p:cNvSpPr txBox="1"/>
          <p:nvPr/>
        </p:nvSpPr>
        <p:spPr>
          <a:xfrm>
            <a:off x="731520" y="2121408"/>
            <a:ext cx="1682496" cy="1463040"/>
          </a:xfrm>
          <a:prstGeom prst="rect">
            <a:avLst/>
          </a:prstGeom>
          <a:noFill/>
        </p:spPr>
        <p:txBody>
          <a:bodyPr wrap="square" lIns="0" rIns="0" tIns="0" bIns="0">
            <a:spAutoFit/>
          </a:bodyPr>
          <a:lstStyle/>
          <a:p>
            <a:pPr algn="l">
              <a:lnSpc>
                <a:spcPct val="120000"/>
              </a:lnSpc>
              <a:spcBef>
                <a:spcPts val="0"/>
              </a:spcBef>
              <a:spcAft>
                <a:spcPts val="800"/>
              </a:spcAft>
            </a:pPr>
            <a:r>
              <a:rPr sz="1000" b="1">
                <a:solidFill>
                  <a:srgbClr val="138808"/>
                </a:solidFill>
                <a:latin typeface="Segoe UI"/>
              </a:rPr>
              <a:t>·  </a:t>
            </a:r>
            <a:r>
              <a:rPr sz="1000" b="0">
                <a:solidFill>
                  <a:srgbClr val="4A5568"/>
                </a:solidFill>
                <a:latin typeface="Segoe UI"/>
              </a:rPr>
              <a:t>GTFS schedule</a:t>
            </a:r>
          </a:p>
          <a:p>
            <a:pPr algn="l">
              <a:lnSpc>
                <a:spcPct val="120000"/>
              </a:lnSpc>
              <a:spcBef>
                <a:spcPts val="0"/>
              </a:spcBef>
              <a:spcAft>
                <a:spcPts val="800"/>
              </a:spcAft>
            </a:pPr>
            <a:r>
              <a:rPr sz="1000" b="1">
                <a:solidFill>
                  <a:srgbClr val="138808"/>
                </a:solidFill>
                <a:latin typeface="Segoe UI"/>
              </a:rPr>
              <a:t>·  </a:t>
            </a:r>
            <a:r>
              <a:rPr sz="1000" b="0">
                <a:solidFill>
                  <a:srgbClr val="4A5568"/>
                </a:solidFill>
                <a:latin typeface="Segoe UI"/>
              </a:rPr>
              <a:t>GTFS-Realtime / AVL</a:t>
            </a:r>
          </a:p>
          <a:p>
            <a:pPr algn="l">
              <a:lnSpc>
                <a:spcPct val="120000"/>
              </a:lnSpc>
              <a:spcBef>
                <a:spcPts val="0"/>
              </a:spcBef>
              <a:spcAft>
                <a:spcPts val="800"/>
              </a:spcAft>
            </a:pPr>
            <a:r>
              <a:rPr sz="1000" b="1">
                <a:solidFill>
                  <a:srgbClr val="138808"/>
                </a:solidFill>
                <a:latin typeface="Segoe UI"/>
              </a:rPr>
              <a:t>·  </a:t>
            </a:r>
            <a:r>
              <a:rPr sz="1000" b="0">
                <a:solidFill>
                  <a:srgbClr val="4A5568"/>
                </a:solidFill>
                <a:latin typeface="Segoe UI"/>
              </a:rPr>
              <a:t>Occupancy feed</a:t>
            </a:r>
          </a:p>
          <a:p>
            <a:pPr algn="l">
              <a:lnSpc>
                <a:spcPct val="120000"/>
              </a:lnSpc>
              <a:spcBef>
                <a:spcPts val="0"/>
              </a:spcBef>
              <a:spcAft>
                <a:spcPts val="800"/>
              </a:spcAft>
            </a:pPr>
            <a:r>
              <a:rPr sz="1000" b="1">
                <a:solidFill>
                  <a:srgbClr val="138808"/>
                </a:solidFill>
                <a:latin typeface="Segoe UI"/>
              </a:rPr>
              <a:t>·  </a:t>
            </a:r>
            <a:r>
              <a:rPr sz="1000" b="0">
                <a:solidFill>
                  <a:srgbClr val="4A5568"/>
                </a:solidFill>
                <a:latin typeface="Segoe UI"/>
              </a:rPr>
              <a:t>Weather · events</a:t>
            </a:r>
          </a:p>
        </p:txBody>
      </p:sp>
      <p:sp>
        <p:nvSpPr>
          <p:cNvPr id="16" name="Right Arrow 15"/>
          <p:cNvSpPr/>
          <p:nvPr/>
        </p:nvSpPr>
        <p:spPr>
          <a:xfrm>
            <a:off x="2624328" y="2596896"/>
            <a:ext cx="132588" cy="146304"/>
          </a:xfrm>
          <a:prstGeom prst="rightArrow">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837383" y="1609344"/>
            <a:ext cx="1975104" cy="2121408"/>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2837383" y="1609344"/>
            <a:ext cx="1975104" cy="365760"/>
          </a:xfrm>
          <a:prstGeom prst="roundRect">
            <a:avLst>
              <a:gd name="adj" fmla="val 12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837383" y="1810512"/>
            <a:ext cx="1975104" cy="164592"/>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001975" y="1700784"/>
            <a:ext cx="1645920" cy="237744"/>
          </a:xfrm>
          <a:prstGeom prst="rect">
            <a:avLst/>
          </a:prstGeom>
          <a:noFill/>
        </p:spPr>
        <p:txBody>
          <a:bodyPr wrap="square" lIns="0" rIns="0" tIns="0" bIns="0">
            <a:spAutoFit/>
          </a:bodyPr>
          <a:lstStyle/>
          <a:p>
            <a:pPr algn="l">
              <a:lnSpc>
                <a:spcPct val="122000"/>
              </a:lnSpc>
              <a:spcBef>
                <a:spcPts val="0"/>
              </a:spcBef>
              <a:spcAft>
                <a:spcPts val="0"/>
              </a:spcAft>
            </a:pPr>
            <a:r>
              <a:rPr sz="1050" b="1" i="0">
                <a:solidFill>
                  <a:srgbClr val="FFFFFF"/>
                </a:solidFill>
                <a:latin typeface="Segoe UI"/>
              </a:rPr>
              <a:t>INGESTION</a:t>
            </a:r>
          </a:p>
        </p:txBody>
      </p:sp>
      <p:sp>
        <p:nvSpPr>
          <p:cNvPr id="21" name="TextBox 20"/>
          <p:cNvSpPr txBox="1"/>
          <p:nvPr/>
        </p:nvSpPr>
        <p:spPr>
          <a:xfrm>
            <a:off x="3001975" y="2121408"/>
            <a:ext cx="1682496" cy="1463040"/>
          </a:xfrm>
          <a:prstGeom prst="rect">
            <a:avLst/>
          </a:prstGeom>
          <a:noFill/>
        </p:spPr>
        <p:txBody>
          <a:bodyPr wrap="square" lIns="0" rIns="0" tIns="0" bIns="0">
            <a:spAutoFit/>
          </a:bodyPr>
          <a:lstStyle/>
          <a:p>
            <a:pPr algn="l">
              <a:lnSpc>
                <a:spcPct val="120000"/>
              </a:lnSpc>
              <a:spcBef>
                <a:spcPts val="0"/>
              </a:spcBef>
              <a:spcAft>
                <a:spcPts val="800"/>
              </a:spcAft>
            </a:pPr>
            <a:r>
              <a:rPr sz="1000" b="1">
                <a:solidFill>
                  <a:srgbClr val="138808"/>
                </a:solidFill>
                <a:latin typeface="Segoe UI"/>
              </a:rPr>
              <a:t>·  </a:t>
            </a:r>
            <a:r>
              <a:rPr sz="1000" b="0">
                <a:solidFill>
                  <a:srgbClr val="4A5568"/>
                </a:solidFill>
                <a:latin typeface="Segoe UI"/>
              </a:rPr>
              <a:t>Validate · dedup</a:t>
            </a:r>
          </a:p>
          <a:p>
            <a:pPr algn="l">
              <a:lnSpc>
                <a:spcPct val="120000"/>
              </a:lnSpc>
              <a:spcBef>
                <a:spcPts val="0"/>
              </a:spcBef>
              <a:spcAft>
                <a:spcPts val="800"/>
              </a:spcAft>
            </a:pPr>
            <a:r>
              <a:rPr sz="1000" b="1">
                <a:solidFill>
                  <a:srgbClr val="138808"/>
                </a:solidFill>
                <a:latin typeface="Segoe UI"/>
              </a:rPr>
              <a:t>·  </a:t>
            </a:r>
            <a:r>
              <a:rPr sz="1000" b="0">
                <a:solidFill>
                  <a:srgbClr val="4A5568"/>
                </a:solidFill>
                <a:latin typeface="Segoe UI"/>
              </a:rPr>
              <a:t>Map matching</a:t>
            </a:r>
          </a:p>
          <a:p>
            <a:pPr algn="l">
              <a:lnSpc>
                <a:spcPct val="120000"/>
              </a:lnSpc>
              <a:spcBef>
                <a:spcPts val="0"/>
              </a:spcBef>
              <a:spcAft>
                <a:spcPts val="800"/>
              </a:spcAft>
            </a:pPr>
            <a:r>
              <a:rPr sz="1000" b="1">
                <a:solidFill>
                  <a:srgbClr val="138808"/>
                </a:solidFill>
                <a:latin typeface="Segoe UI"/>
              </a:rPr>
              <a:t>·  </a:t>
            </a:r>
            <a:r>
              <a:rPr sz="1000" b="0">
                <a:solidFill>
                  <a:srgbClr val="4A5568"/>
                </a:solidFill>
                <a:latin typeface="Segoe UI"/>
              </a:rPr>
              <a:t>Stop-passage events</a:t>
            </a:r>
          </a:p>
          <a:p>
            <a:pPr algn="l">
              <a:lnSpc>
                <a:spcPct val="120000"/>
              </a:lnSpc>
              <a:spcBef>
                <a:spcPts val="0"/>
              </a:spcBef>
              <a:spcAft>
                <a:spcPts val="800"/>
              </a:spcAft>
            </a:pPr>
            <a:r>
              <a:rPr sz="1000" b="1">
                <a:solidFill>
                  <a:srgbClr val="138808"/>
                </a:solidFill>
                <a:latin typeface="Segoe UI"/>
              </a:rPr>
              <a:t>·  </a:t>
            </a:r>
            <a:r>
              <a:rPr sz="1000" b="0">
                <a:solidFill>
                  <a:srgbClr val="4A5568"/>
                </a:solidFill>
                <a:latin typeface="Segoe UI"/>
              </a:rPr>
              <a:t>Source and quality tags</a:t>
            </a:r>
          </a:p>
        </p:txBody>
      </p:sp>
      <p:sp>
        <p:nvSpPr>
          <p:cNvPr id="22" name="Right Arrow 21"/>
          <p:cNvSpPr/>
          <p:nvPr/>
        </p:nvSpPr>
        <p:spPr>
          <a:xfrm>
            <a:off x="4894783" y="2596896"/>
            <a:ext cx="132588" cy="146304"/>
          </a:xfrm>
          <a:prstGeom prst="rightArrow">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107838" y="1609344"/>
            <a:ext cx="1975104" cy="2121408"/>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5107838" y="1609344"/>
            <a:ext cx="1975104" cy="365760"/>
          </a:xfrm>
          <a:prstGeom prst="roundRect">
            <a:avLst>
              <a:gd name="adj" fmla="val 12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107838" y="1810512"/>
            <a:ext cx="1975104" cy="164592"/>
          </a:xfrm>
          <a:prstGeom prst="rect">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272430" y="1700784"/>
            <a:ext cx="1645920" cy="237744"/>
          </a:xfrm>
          <a:prstGeom prst="rect">
            <a:avLst/>
          </a:prstGeom>
          <a:noFill/>
        </p:spPr>
        <p:txBody>
          <a:bodyPr wrap="square" lIns="0" rIns="0" tIns="0" bIns="0">
            <a:spAutoFit/>
          </a:bodyPr>
          <a:lstStyle/>
          <a:p>
            <a:pPr algn="l">
              <a:lnSpc>
                <a:spcPct val="122000"/>
              </a:lnSpc>
              <a:spcBef>
                <a:spcPts val="0"/>
              </a:spcBef>
              <a:spcAft>
                <a:spcPts val="0"/>
              </a:spcAft>
            </a:pPr>
            <a:r>
              <a:rPr sz="1050" b="1" i="0">
                <a:solidFill>
                  <a:srgbClr val="FFFFFF"/>
                </a:solidFill>
                <a:latin typeface="Segoe UI"/>
              </a:rPr>
              <a:t>DATA PLATFORM</a:t>
            </a:r>
          </a:p>
        </p:txBody>
      </p:sp>
      <p:sp>
        <p:nvSpPr>
          <p:cNvPr id="27" name="TextBox 26"/>
          <p:cNvSpPr txBox="1"/>
          <p:nvPr/>
        </p:nvSpPr>
        <p:spPr>
          <a:xfrm>
            <a:off x="5272430" y="2121408"/>
            <a:ext cx="1682496" cy="1463040"/>
          </a:xfrm>
          <a:prstGeom prst="rect">
            <a:avLst/>
          </a:prstGeom>
          <a:noFill/>
        </p:spPr>
        <p:txBody>
          <a:bodyPr wrap="square" lIns="0" rIns="0" tIns="0" bIns="0">
            <a:spAutoFit/>
          </a:bodyPr>
          <a:lstStyle/>
          <a:p>
            <a:pPr algn="l">
              <a:lnSpc>
                <a:spcPct val="120000"/>
              </a:lnSpc>
              <a:spcBef>
                <a:spcPts val="0"/>
              </a:spcBef>
              <a:spcAft>
                <a:spcPts val="800"/>
              </a:spcAft>
            </a:pPr>
            <a:r>
              <a:rPr sz="1000" b="1">
                <a:solidFill>
                  <a:srgbClr val="1B3F8B"/>
                </a:solidFill>
                <a:latin typeface="Segoe UI"/>
              </a:rPr>
              <a:t>·  </a:t>
            </a:r>
            <a:r>
              <a:rPr sz="1000" b="0">
                <a:solidFill>
                  <a:srgbClr val="4A5568"/>
                </a:solidFill>
                <a:latin typeface="Segoe UI"/>
              </a:rPr>
              <a:t>PostgreSQL + PostGIS</a:t>
            </a:r>
          </a:p>
          <a:p>
            <a:pPr algn="l">
              <a:lnSpc>
                <a:spcPct val="120000"/>
              </a:lnSpc>
              <a:spcBef>
                <a:spcPts val="0"/>
              </a:spcBef>
              <a:spcAft>
                <a:spcPts val="800"/>
              </a:spcAft>
            </a:pPr>
            <a:r>
              <a:rPr sz="1000" b="1">
                <a:solidFill>
                  <a:srgbClr val="1B3F8B"/>
                </a:solidFill>
                <a:latin typeface="Segoe UI"/>
              </a:rPr>
              <a:t>·  </a:t>
            </a:r>
            <a:r>
              <a:rPr sz="1000" b="0">
                <a:solidFill>
                  <a:srgbClr val="4A5568"/>
                </a:solidFill>
                <a:latin typeface="Segoe UI"/>
              </a:rPr>
              <a:t>Time-series telemetry</a:t>
            </a:r>
          </a:p>
          <a:p>
            <a:pPr algn="l">
              <a:lnSpc>
                <a:spcPct val="120000"/>
              </a:lnSpc>
              <a:spcBef>
                <a:spcPts val="0"/>
              </a:spcBef>
              <a:spcAft>
                <a:spcPts val="800"/>
              </a:spcAft>
            </a:pPr>
            <a:r>
              <a:rPr sz="1000" b="1">
                <a:solidFill>
                  <a:srgbClr val="1B3F8B"/>
                </a:solidFill>
                <a:latin typeface="Segoe UI"/>
              </a:rPr>
              <a:t>·  </a:t>
            </a:r>
            <a:r>
              <a:rPr sz="1000" b="0">
                <a:solidFill>
                  <a:srgbClr val="4A5568"/>
                </a:solidFill>
                <a:latin typeface="Segoe UI"/>
              </a:rPr>
              <a:t>Redis latest-state</a:t>
            </a:r>
          </a:p>
          <a:p>
            <a:pPr algn="l">
              <a:lnSpc>
                <a:spcPct val="120000"/>
              </a:lnSpc>
              <a:spcBef>
                <a:spcPts val="0"/>
              </a:spcBef>
              <a:spcAft>
                <a:spcPts val="800"/>
              </a:spcAft>
            </a:pPr>
            <a:r>
              <a:rPr sz="1000" b="1">
                <a:solidFill>
                  <a:srgbClr val="1B3F8B"/>
                </a:solidFill>
                <a:latin typeface="Segoe UI"/>
              </a:rPr>
              <a:t>·  </a:t>
            </a:r>
            <a:r>
              <a:rPr sz="1000" b="0">
                <a:solidFill>
                  <a:srgbClr val="4A5568"/>
                </a:solidFill>
                <a:latin typeface="Segoe UI"/>
              </a:rPr>
              <a:t>Parquet archive</a:t>
            </a:r>
          </a:p>
        </p:txBody>
      </p:sp>
      <p:sp>
        <p:nvSpPr>
          <p:cNvPr id="28" name="Right Arrow 27"/>
          <p:cNvSpPr/>
          <p:nvPr/>
        </p:nvSpPr>
        <p:spPr>
          <a:xfrm>
            <a:off x="7165238" y="2596896"/>
            <a:ext cx="132588" cy="146304"/>
          </a:xfrm>
          <a:prstGeom prst="rightArrow">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378293" y="1609344"/>
            <a:ext cx="1975104" cy="2121408"/>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7378293" y="1609344"/>
            <a:ext cx="1975104" cy="365760"/>
          </a:xfrm>
          <a:prstGeom prst="roundRect">
            <a:avLst>
              <a:gd name="adj" fmla="val 12000"/>
            </a:avLst>
          </a:prstGeom>
          <a:solidFill>
            <a:srgbClr val="E27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7378293" y="1810512"/>
            <a:ext cx="1975104" cy="164592"/>
          </a:xfrm>
          <a:prstGeom prst="rect">
            <a:avLst/>
          </a:prstGeom>
          <a:solidFill>
            <a:srgbClr val="E27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542885" y="1700784"/>
            <a:ext cx="1645920" cy="237744"/>
          </a:xfrm>
          <a:prstGeom prst="rect">
            <a:avLst/>
          </a:prstGeom>
          <a:noFill/>
        </p:spPr>
        <p:txBody>
          <a:bodyPr wrap="square" lIns="0" rIns="0" tIns="0" bIns="0">
            <a:spAutoFit/>
          </a:bodyPr>
          <a:lstStyle/>
          <a:p>
            <a:pPr algn="l">
              <a:lnSpc>
                <a:spcPct val="122000"/>
              </a:lnSpc>
              <a:spcBef>
                <a:spcPts val="0"/>
              </a:spcBef>
              <a:spcAft>
                <a:spcPts val="0"/>
              </a:spcAft>
            </a:pPr>
            <a:r>
              <a:rPr sz="1050" b="1" i="0">
                <a:solidFill>
                  <a:srgbClr val="FFFFFF"/>
                </a:solidFill>
                <a:latin typeface="Segoe UI"/>
              </a:rPr>
              <a:t>INTELLIGENCE</a:t>
            </a:r>
          </a:p>
        </p:txBody>
      </p:sp>
      <p:sp>
        <p:nvSpPr>
          <p:cNvPr id="33" name="TextBox 32"/>
          <p:cNvSpPr txBox="1"/>
          <p:nvPr/>
        </p:nvSpPr>
        <p:spPr>
          <a:xfrm>
            <a:off x="7542885" y="2121408"/>
            <a:ext cx="1682496" cy="1463040"/>
          </a:xfrm>
          <a:prstGeom prst="rect">
            <a:avLst/>
          </a:prstGeom>
          <a:noFill/>
        </p:spPr>
        <p:txBody>
          <a:bodyPr wrap="square" lIns="0" rIns="0" tIns="0" bIns="0">
            <a:spAutoFit/>
          </a:bodyPr>
          <a:lstStyle/>
          <a:p>
            <a:pPr algn="l">
              <a:lnSpc>
                <a:spcPct val="120000"/>
              </a:lnSpc>
              <a:spcBef>
                <a:spcPts val="0"/>
              </a:spcBef>
              <a:spcAft>
                <a:spcPts val="800"/>
              </a:spcAft>
            </a:pPr>
            <a:r>
              <a:rPr sz="1000" b="1">
                <a:solidFill>
                  <a:srgbClr val="E2761B"/>
                </a:solidFill>
                <a:latin typeface="Segoe UI"/>
              </a:rPr>
              <a:t>·  </a:t>
            </a:r>
            <a:r>
              <a:rPr sz="1000" b="0">
                <a:solidFill>
                  <a:srgbClr val="4A5568"/>
                </a:solidFill>
                <a:latin typeface="Segoe UI"/>
              </a:rPr>
              <a:t>Crowd forecast</a:t>
            </a:r>
          </a:p>
          <a:p>
            <a:pPr algn="l">
              <a:lnSpc>
                <a:spcPct val="120000"/>
              </a:lnSpc>
              <a:spcBef>
                <a:spcPts val="0"/>
              </a:spcBef>
              <a:spcAft>
                <a:spcPts val="800"/>
              </a:spcAft>
            </a:pPr>
            <a:r>
              <a:rPr sz="1000" b="1">
                <a:solidFill>
                  <a:srgbClr val="E2761B"/>
                </a:solidFill>
                <a:latin typeface="Segoe UI"/>
              </a:rPr>
              <a:t>·  </a:t>
            </a:r>
            <a:r>
              <a:rPr sz="1000" b="0">
                <a:solidFill>
                  <a:srgbClr val="4A5568"/>
                </a:solidFill>
                <a:latin typeface="Segoe UI"/>
              </a:rPr>
              <a:t>Delay / ETA forecast</a:t>
            </a:r>
          </a:p>
          <a:p>
            <a:pPr algn="l">
              <a:lnSpc>
                <a:spcPct val="120000"/>
              </a:lnSpc>
              <a:spcBef>
                <a:spcPts val="0"/>
              </a:spcBef>
              <a:spcAft>
                <a:spcPts val="800"/>
              </a:spcAft>
            </a:pPr>
            <a:r>
              <a:rPr sz="1000" b="1">
                <a:solidFill>
                  <a:srgbClr val="E2761B"/>
                </a:solidFill>
                <a:latin typeface="Segoe UI"/>
              </a:rPr>
              <a:t>·  </a:t>
            </a:r>
            <a:r>
              <a:rPr sz="1000" b="0">
                <a:solidFill>
                  <a:srgbClr val="4A5568"/>
                </a:solidFill>
                <a:latin typeface="Segoe UI"/>
              </a:rPr>
              <a:t>Trip planner</a:t>
            </a:r>
          </a:p>
          <a:p>
            <a:pPr algn="l">
              <a:lnSpc>
                <a:spcPct val="120000"/>
              </a:lnSpc>
              <a:spcBef>
                <a:spcPts val="0"/>
              </a:spcBef>
              <a:spcAft>
                <a:spcPts val="800"/>
              </a:spcAft>
            </a:pPr>
            <a:r>
              <a:rPr sz="1000" b="1">
                <a:solidFill>
                  <a:srgbClr val="E2761B"/>
                </a:solidFill>
                <a:latin typeface="Segoe UI"/>
              </a:rPr>
              <a:t>·  </a:t>
            </a:r>
            <a:r>
              <a:rPr sz="1000" b="0">
                <a:solidFill>
                  <a:srgbClr val="4A5568"/>
                </a:solidFill>
                <a:latin typeface="Segoe UI"/>
              </a:rPr>
              <a:t>Multi-objective ranker</a:t>
            </a:r>
          </a:p>
        </p:txBody>
      </p:sp>
      <p:sp>
        <p:nvSpPr>
          <p:cNvPr id="34" name="Right Arrow 33"/>
          <p:cNvSpPr/>
          <p:nvPr/>
        </p:nvSpPr>
        <p:spPr>
          <a:xfrm>
            <a:off x="9435693" y="2596896"/>
            <a:ext cx="132588" cy="146304"/>
          </a:xfrm>
          <a:prstGeom prst="rightArrow">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648748" y="1609344"/>
            <a:ext cx="1975104" cy="2121408"/>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9648748" y="1609344"/>
            <a:ext cx="1975104" cy="365760"/>
          </a:xfrm>
          <a:prstGeom prst="roundRect">
            <a:avLst>
              <a:gd name="adj" fmla="val 12000"/>
            </a:avLst>
          </a:prstGeom>
          <a:solidFill>
            <a:srgbClr val="102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9648748" y="1810512"/>
            <a:ext cx="1975104" cy="164592"/>
          </a:xfrm>
          <a:prstGeom prst="rect">
            <a:avLst/>
          </a:prstGeom>
          <a:solidFill>
            <a:srgbClr val="102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813340" y="1700784"/>
            <a:ext cx="1645920" cy="237744"/>
          </a:xfrm>
          <a:prstGeom prst="rect">
            <a:avLst/>
          </a:prstGeom>
          <a:noFill/>
        </p:spPr>
        <p:txBody>
          <a:bodyPr wrap="square" lIns="0" rIns="0" tIns="0" bIns="0">
            <a:spAutoFit/>
          </a:bodyPr>
          <a:lstStyle/>
          <a:p>
            <a:pPr algn="l">
              <a:lnSpc>
                <a:spcPct val="122000"/>
              </a:lnSpc>
              <a:spcBef>
                <a:spcPts val="0"/>
              </a:spcBef>
              <a:spcAft>
                <a:spcPts val="0"/>
              </a:spcAft>
            </a:pPr>
            <a:r>
              <a:rPr sz="1050" b="1" i="0">
                <a:solidFill>
                  <a:srgbClr val="FFFFFF"/>
                </a:solidFill>
                <a:latin typeface="Segoe UI"/>
              </a:rPr>
              <a:t>APPLICATIONS</a:t>
            </a:r>
          </a:p>
        </p:txBody>
      </p:sp>
      <p:sp>
        <p:nvSpPr>
          <p:cNvPr id="39" name="TextBox 38"/>
          <p:cNvSpPr txBox="1"/>
          <p:nvPr/>
        </p:nvSpPr>
        <p:spPr>
          <a:xfrm>
            <a:off x="9813340" y="2121408"/>
            <a:ext cx="1682496" cy="1463040"/>
          </a:xfrm>
          <a:prstGeom prst="rect">
            <a:avLst/>
          </a:prstGeom>
          <a:noFill/>
        </p:spPr>
        <p:txBody>
          <a:bodyPr wrap="square" lIns="0" rIns="0" tIns="0" bIns="0">
            <a:spAutoFit/>
          </a:bodyPr>
          <a:lstStyle/>
          <a:p>
            <a:pPr algn="l">
              <a:lnSpc>
                <a:spcPct val="120000"/>
              </a:lnSpc>
              <a:spcBef>
                <a:spcPts val="0"/>
              </a:spcBef>
              <a:spcAft>
                <a:spcPts val="800"/>
              </a:spcAft>
            </a:pPr>
            <a:r>
              <a:rPr sz="1000" b="1">
                <a:solidFill>
                  <a:srgbClr val="10275C"/>
                </a:solidFill>
                <a:latin typeface="Segoe UI"/>
              </a:rPr>
              <a:t>·  </a:t>
            </a:r>
            <a:r>
              <a:rPr sz="1000" b="0">
                <a:solidFill>
                  <a:srgbClr val="4A5568"/>
                </a:solidFill>
                <a:latin typeface="Segoe UI"/>
              </a:rPr>
              <a:t>Passenger app</a:t>
            </a:r>
          </a:p>
          <a:p>
            <a:pPr algn="l">
              <a:lnSpc>
                <a:spcPct val="120000"/>
              </a:lnSpc>
              <a:spcBef>
                <a:spcPts val="0"/>
              </a:spcBef>
              <a:spcAft>
                <a:spcPts val="800"/>
              </a:spcAft>
            </a:pPr>
            <a:r>
              <a:rPr sz="1000" b="1">
                <a:solidFill>
                  <a:srgbClr val="10275C"/>
                </a:solidFill>
                <a:latin typeface="Segoe UI"/>
              </a:rPr>
              <a:t>·  </a:t>
            </a:r>
            <a:r>
              <a:rPr sz="1000" b="0">
                <a:solidFill>
                  <a:srgbClr val="4A5568"/>
                </a:solidFill>
                <a:latin typeface="Segoe UI"/>
              </a:rPr>
              <a:t>Live journey stream</a:t>
            </a:r>
          </a:p>
          <a:p>
            <a:pPr algn="l">
              <a:lnSpc>
                <a:spcPct val="120000"/>
              </a:lnSpc>
              <a:spcBef>
                <a:spcPts val="0"/>
              </a:spcBef>
              <a:spcAft>
                <a:spcPts val="800"/>
              </a:spcAft>
            </a:pPr>
            <a:r>
              <a:rPr sz="1000" b="1">
                <a:solidFill>
                  <a:srgbClr val="10275C"/>
                </a:solidFill>
                <a:latin typeface="Segoe UI"/>
              </a:rPr>
              <a:t>·  </a:t>
            </a:r>
            <a:r>
              <a:rPr sz="1000" b="0">
                <a:solidFill>
                  <a:srgbClr val="4A5568"/>
                </a:solidFill>
                <a:latin typeface="Segoe UI"/>
              </a:rPr>
              <a:t>Operator dashboard</a:t>
            </a:r>
          </a:p>
          <a:p>
            <a:pPr algn="l">
              <a:lnSpc>
                <a:spcPct val="120000"/>
              </a:lnSpc>
              <a:spcBef>
                <a:spcPts val="0"/>
              </a:spcBef>
              <a:spcAft>
                <a:spcPts val="800"/>
              </a:spcAft>
            </a:pPr>
            <a:r>
              <a:rPr sz="1000" b="1">
                <a:solidFill>
                  <a:srgbClr val="10275C"/>
                </a:solidFill>
                <a:latin typeface="Segoe UI"/>
              </a:rPr>
              <a:t>·  </a:t>
            </a:r>
            <a:r>
              <a:rPr sz="1000" b="0">
                <a:solidFill>
                  <a:srgbClr val="4A5568"/>
                </a:solidFill>
                <a:latin typeface="Segoe UI"/>
              </a:rPr>
              <a:t>Partner APIs</a:t>
            </a:r>
          </a:p>
        </p:txBody>
      </p:sp>
      <p:sp>
        <p:nvSpPr>
          <p:cNvPr id="40" name="Rounded Rectangle 39"/>
          <p:cNvSpPr/>
          <p:nvPr/>
        </p:nvSpPr>
        <p:spPr>
          <a:xfrm>
            <a:off x="566928" y="3986784"/>
            <a:ext cx="5400903" cy="1400860"/>
          </a:xfrm>
          <a:prstGeom prst="roundRect">
            <a:avLst>
              <a:gd name="adj" fmla="val 5000"/>
            </a:avLst>
          </a:prstGeom>
          <a:solidFill>
            <a:srgbClr val="F5F7FA"/>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566928" y="3986784"/>
            <a:ext cx="45720" cy="1400860"/>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04672" y="4151376"/>
            <a:ext cx="4925415" cy="1071676"/>
          </a:xfrm>
          <a:prstGeom prst="rect">
            <a:avLst/>
          </a:prstGeom>
          <a:noFill/>
        </p:spPr>
        <p:txBody>
          <a:bodyPr wrap="square" lIns="0" rIns="0" tIns="0" bIns="0">
            <a:spAutoFit/>
          </a:bodyPr>
          <a:lstStyle/>
          <a:p>
            <a:pPr algn="l">
              <a:lnSpc>
                <a:spcPct val="124000"/>
              </a:lnSpc>
              <a:spcBef>
                <a:spcPts val="0"/>
              </a:spcBef>
              <a:spcAft>
                <a:spcPts val="600"/>
              </a:spcAft>
            </a:pPr>
            <a:r>
              <a:rPr sz="1000" b="1" i="0">
                <a:solidFill>
                  <a:srgbClr val="1B3F8B"/>
                </a:solidFill>
                <a:latin typeface="Segoe UI"/>
              </a:rPr>
              <a:t>EVERY READING IS KEPT, NOTHING IS OVERWRITTEN</a:t>
            </a:r>
          </a:p>
          <a:p>
            <a:pPr algn="l">
              <a:lnSpc>
                <a:spcPct val="126000"/>
              </a:lnSpc>
              <a:spcBef>
                <a:spcPts val="0"/>
              </a:spcBef>
              <a:spcAft>
                <a:spcPts val="0"/>
              </a:spcAft>
            </a:pPr>
            <a:r>
              <a:rPr sz="1050" b="0" i="0">
                <a:solidFill>
                  <a:srgbClr val="4A5568"/>
                </a:solidFill>
                <a:latin typeface="Segoe UI"/>
              </a:rPr>
              <a:t>Each reading is stored once, with its time and its source. Because the record stays complete, any past hour can be replayed exactly: the demonstration repeats, an earlier recommendation can be checked, and the training set grows on its own.</a:t>
            </a:r>
          </a:p>
        </p:txBody>
      </p:sp>
      <p:sp>
        <p:nvSpPr>
          <p:cNvPr id="43" name="Rounded Rectangle 42"/>
          <p:cNvSpPr/>
          <p:nvPr/>
        </p:nvSpPr>
        <p:spPr>
          <a:xfrm>
            <a:off x="6223863" y="3986784"/>
            <a:ext cx="5400903" cy="1400860"/>
          </a:xfrm>
          <a:prstGeom prst="roundRect">
            <a:avLst>
              <a:gd name="adj" fmla="val 5000"/>
            </a:avLst>
          </a:prstGeom>
          <a:solidFill>
            <a:srgbClr val="F5F7FA"/>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6223863" y="3986784"/>
            <a:ext cx="45720" cy="1400860"/>
          </a:xfrm>
          <a:prstGeom prst="roundRect">
            <a:avLst>
              <a:gd name="adj" fmla="val 50000"/>
            </a:avLst>
          </a:prstGeom>
          <a:solidFill>
            <a:srgbClr val="E27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461607" y="4151376"/>
            <a:ext cx="4925415" cy="1071676"/>
          </a:xfrm>
          <a:prstGeom prst="rect">
            <a:avLst/>
          </a:prstGeom>
          <a:noFill/>
        </p:spPr>
        <p:txBody>
          <a:bodyPr wrap="square" lIns="0" rIns="0" tIns="0" bIns="0">
            <a:spAutoFit/>
          </a:bodyPr>
          <a:lstStyle/>
          <a:p>
            <a:pPr algn="l">
              <a:lnSpc>
                <a:spcPct val="124000"/>
              </a:lnSpc>
              <a:spcBef>
                <a:spcPts val="0"/>
              </a:spcBef>
              <a:spcAft>
                <a:spcPts val="600"/>
              </a:spcAft>
            </a:pPr>
            <a:r>
              <a:rPr sz="1000" b="1" i="0">
                <a:solidFill>
                  <a:srgbClr val="E2761B"/>
                </a:solidFill>
                <a:latin typeface="Segoe UI"/>
              </a:rPr>
              <a:t>THE PROTOTYPE AND THE FULL SYSTEM SHARE INTERFACES</a:t>
            </a:r>
          </a:p>
          <a:p>
            <a:pPr algn="l">
              <a:lnSpc>
                <a:spcPct val="126000"/>
              </a:lnSpc>
              <a:spcBef>
                <a:spcPts val="0"/>
              </a:spcBef>
              <a:spcAft>
                <a:spcPts val="0"/>
              </a:spcAft>
            </a:pPr>
            <a:r>
              <a:rPr sz="1050" b="0" i="0">
                <a:solidFill>
                  <a:srgbClr val="4A5568"/>
                </a:solidFill>
                <a:latin typeface="Segoe UI"/>
              </a:rPr>
              <a:t>The prototype runs every service as one application with background workers. Scaling up moves them onto separate machines, but the data formats and the interfaces between them stay exactly as they 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10896"/>
            <a:ext cx="158496" cy="6858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25424" y="310896"/>
            <a:ext cx="158496" cy="68580"/>
          </a:xfrm>
          <a:prstGeom prst="rect">
            <a:avLst/>
          </a:prstGeom>
          <a:solidFill>
            <a:srgbClr val="102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83920" y="310896"/>
            <a:ext cx="158496" cy="6858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88720" y="256032"/>
            <a:ext cx="11057839" cy="237744"/>
          </a:xfrm>
          <a:prstGeom prst="rect">
            <a:avLst/>
          </a:prstGeom>
          <a:noFill/>
        </p:spPr>
        <p:txBody>
          <a:bodyPr wrap="square" lIns="0" rIns="0" tIns="0" bIns="0">
            <a:spAutoFit/>
          </a:bodyPr>
          <a:lstStyle/>
          <a:p>
            <a:pPr algn="l">
              <a:lnSpc>
                <a:spcPct val="122000"/>
              </a:lnSpc>
              <a:spcBef>
                <a:spcPts val="0"/>
              </a:spcBef>
              <a:spcAft>
                <a:spcPts val="0"/>
              </a:spcAft>
            </a:pPr>
            <a:r>
              <a:rPr sz="1000" b="1" i="0">
                <a:solidFill>
                  <a:srgbClr val="E2761B"/>
                </a:solidFill>
                <a:latin typeface="Segoe UI"/>
              </a:rPr>
              <a:t>DATA STRATEGY</a:t>
            </a:r>
          </a:p>
        </p:txBody>
      </p:sp>
      <p:sp>
        <p:nvSpPr>
          <p:cNvPr id="6" name="TextBox 5"/>
          <p:cNvSpPr txBox="1"/>
          <p:nvPr/>
        </p:nvSpPr>
        <p:spPr>
          <a:xfrm>
            <a:off x="566928" y="548640"/>
            <a:ext cx="11057839" cy="457200"/>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0275C"/>
                </a:solidFill>
                <a:latin typeface="Segoe UI"/>
              </a:rPr>
              <a:t>All model inputs are drawn from live operational data</a:t>
            </a:r>
          </a:p>
        </p:txBody>
      </p:sp>
      <p:sp>
        <p:nvSpPr>
          <p:cNvPr id="7" name="TextBox 6"/>
          <p:cNvSpPr txBox="1"/>
          <p:nvPr/>
        </p:nvSpPr>
        <p:spPr>
          <a:xfrm>
            <a:off x="566928" y="1060704"/>
            <a:ext cx="10783519" cy="292608"/>
          </a:xfrm>
          <a:prstGeom prst="rect">
            <a:avLst/>
          </a:prstGeom>
          <a:noFill/>
        </p:spPr>
        <p:txBody>
          <a:bodyPr wrap="square" lIns="0" rIns="0" tIns="0" bIns="0">
            <a:spAutoFit/>
          </a:bodyPr>
          <a:lstStyle/>
          <a:p>
            <a:pPr algn="l">
              <a:lnSpc>
                <a:spcPct val="122000"/>
              </a:lnSpc>
              <a:spcBef>
                <a:spcPts val="0"/>
              </a:spcBef>
              <a:spcAft>
                <a:spcPts val="0"/>
              </a:spcAft>
            </a:pPr>
            <a:r>
              <a:rPr sz="1250" b="0" i="0">
                <a:solidFill>
                  <a:srgbClr val="8490A2"/>
                </a:solidFill>
                <a:latin typeface="Segoe UI"/>
              </a:rPr>
              <a:t>Network, movement, crowding, delay and weather, every one of them taken from a live public feed.</a:t>
            </a:r>
          </a:p>
        </p:txBody>
      </p:sp>
      <p:sp>
        <p:nvSpPr>
          <p:cNvPr id="8" name="Rectangle 7"/>
          <p:cNvSpPr/>
          <p:nvPr/>
        </p:nvSpPr>
        <p:spPr>
          <a:xfrm>
            <a:off x="566928" y="1371600"/>
            <a:ext cx="11057839" cy="952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66928" y="6419088"/>
            <a:ext cx="10509199" cy="201168"/>
          </a:xfrm>
          <a:prstGeom prst="rect">
            <a:avLst/>
          </a:prstGeom>
          <a:noFill/>
        </p:spPr>
        <p:txBody>
          <a:bodyPr wrap="square" lIns="0" rIns="0" tIns="0" bIns="0">
            <a:spAutoFit/>
          </a:bodyPr>
          <a:lstStyle/>
          <a:p>
            <a:pPr algn="l">
              <a:lnSpc>
                <a:spcPct val="122000"/>
              </a:lnSpc>
              <a:spcBef>
                <a:spcPts val="0"/>
              </a:spcBef>
              <a:spcAft>
                <a:spcPts val="0"/>
              </a:spcAft>
            </a:pPr>
            <a:r>
              <a:rPr sz="850" b="0" i="0">
                <a:solidFill>
                  <a:srgbClr val="8490A2"/>
                </a:solidFill>
                <a:latin typeface="Segoe UI"/>
              </a:rPr>
              <a:t>PRAVAAH  |  Intelligent Public Transport Crowding &amp; Route Prediction</a:t>
            </a:r>
          </a:p>
        </p:txBody>
      </p:sp>
      <p:sp>
        <p:nvSpPr>
          <p:cNvPr id="10" name="TextBox 9"/>
          <p:cNvSpPr txBox="1"/>
          <p:nvPr/>
        </p:nvSpPr>
        <p:spPr>
          <a:xfrm>
            <a:off x="11076127" y="6419088"/>
            <a:ext cx="548640" cy="201168"/>
          </a:xfrm>
          <a:prstGeom prst="rect">
            <a:avLst/>
          </a:prstGeom>
          <a:noFill/>
        </p:spPr>
        <p:txBody>
          <a:bodyPr wrap="square" lIns="0" rIns="0" tIns="0" bIns="0">
            <a:spAutoFit/>
          </a:bodyPr>
          <a:lstStyle/>
          <a:p>
            <a:pPr algn="r">
              <a:lnSpc>
                <a:spcPct val="122000"/>
              </a:lnSpc>
              <a:spcBef>
                <a:spcPts val="0"/>
              </a:spcBef>
              <a:spcAft>
                <a:spcPts val="0"/>
              </a:spcAft>
            </a:pPr>
            <a:r>
              <a:rPr sz="900" b="1" i="0">
                <a:solidFill>
                  <a:srgbClr val="10275C"/>
                </a:solidFill>
                <a:latin typeface="Segoe UI"/>
              </a:rPr>
              <a:t>7</a:t>
            </a:r>
          </a:p>
        </p:txBody>
      </p:sp>
      <p:sp>
        <p:nvSpPr>
          <p:cNvPr id="11" name="Rounded Rectangle 10"/>
          <p:cNvSpPr/>
          <p:nvPr/>
        </p:nvSpPr>
        <p:spPr>
          <a:xfrm>
            <a:off x="566928" y="1609344"/>
            <a:ext cx="1992111" cy="1298448"/>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66928" y="1609344"/>
            <a:ext cx="45720" cy="1298448"/>
          </a:xfrm>
          <a:prstGeom prst="roundRect">
            <a:avLst>
              <a:gd name="adj" fmla="val 50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49808" y="1755648"/>
            <a:ext cx="1662927" cy="1024128"/>
          </a:xfrm>
          <a:prstGeom prst="rect">
            <a:avLst/>
          </a:prstGeom>
          <a:noFill/>
        </p:spPr>
        <p:txBody>
          <a:bodyPr wrap="square" lIns="0" rIns="0" tIns="0" bIns="0">
            <a:spAutoFit/>
          </a:bodyPr>
          <a:lstStyle/>
          <a:p>
            <a:pPr algn="l">
              <a:lnSpc>
                <a:spcPct val="122000"/>
              </a:lnSpc>
              <a:spcBef>
                <a:spcPts val="0"/>
              </a:spcBef>
              <a:spcAft>
                <a:spcPts val="700"/>
              </a:spcAft>
            </a:pPr>
            <a:r>
              <a:rPr sz="1150" b="1" i="0">
                <a:solidFill>
                  <a:srgbClr val="138808"/>
                </a:solidFill>
                <a:latin typeface="Segoe UI"/>
              </a:rPr>
              <a:t>OPEN FEEDS</a:t>
            </a:r>
          </a:p>
          <a:p>
            <a:pPr algn="l">
              <a:lnSpc>
                <a:spcPct val="122000"/>
              </a:lnSpc>
              <a:spcBef>
                <a:spcPts val="0"/>
              </a:spcBef>
              <a:spcAft>
                <a:spcPts val="500"/>
              </a:spcAft>
            </a:pPr>
            <a:r>
              <a:rPr sz="1000" b="0" i="0">
                <a:solidFill>
                  <a:srgbClr val="4A5568"/>
                </a:solidFill>
                <a:latin typeface="Segoe UI"/>
              </a:rPr>
              <a:t>GTFS schedule + GTFS-</a:t>
            </a:r>
          </a:p>
          <a:p>
            <a:pPr algn="l">
              <a:lnSpc>
                <a:spcPct val="122000"/>
              </a:lnSpc>
              <a:spcBef>
                <a:spcPts val="0"/>
              </a:spcBef>
              <a:spcAft>
                <a:spcPts val="500"/>
              </a:spcAft>
            </a:pPr>
            <a:r>
              <a:rPr sz="1000" b="0" i="0">
                <a:solidFill>
                  <a:srgbClr val="4A5568"/>
                </a:solidFill>
                <a:latin typeface="Segoe UI"/>
              </a:rPr>
              <a:t>Realtime, no API key</a:t>
            </a:r>
          </a:p>
        </p:txBody>
      </p:sp>
      <p:sp>
        <p:nvSpPr>
          <p:cNvPr id="14" name="Right Arrow 13"/>
          <p:cNvSpPr/>
          <p:nvPr/>
        </p:nvSpPr>
        <p:spPr>
          <a:xfrm>
            <a:off x="2623047" y="2185416"/>
            <a:ext cx="146304" cy="146304"/>
          </a:xfrm>
          <a:prstGeom prst="rightArrow">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833359" y="1609344"/>
            <a:ext cx="1992111" cy="1298448"/>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2833359" y="1609344"/>
            <a:ext cx="45720" cy="1298448"/>
          </a:xfrm>
          <a:prstGeom prst="roundRect">
            <a:avLst>
              <a:gd name="adj" fmla="val 50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016239" y="1755648"/>
            <a:ext cx="1662927" cy="1024128"/>
          </a:xfrm>
          <a:prstGeom prst="rect">
            <a:avLst/>
          </a:prstGeom>
          <a:noFill/>
        </p:spPr>
        <p:txBody>
          <a:bodyPr wrap="square" lIns="0" rIns="0" tIns="0" bIns="0">
            <a:spAutoFit/>
          </a:bodyPr>
          <a:lstStyle/>
          <a:p>
            <a:pPr algn="l">
              <a:lnSpc>
                <a:spcPct val="122000"/>
              </a:lnSpc>
              <a:spcBef>
                <a:spcPts val="0"/>
              </a:spcBef>
              <a:spcAft>
                <a:spcPts val="700"/>
              </a:spcAft>
            </a:pPr>
            <a:r>
              <a:rPr sz="1150" b="1" i="0">
                <a:solidFill>
                  <a:srgbClr val="138808"/>
                </a:solidFill>
                <a:latin typeface="Segoe UI"/>
              </a:rPr>
              <a:t>REAL OCCUPANCY</a:t>
            </a:r>
          </a:p>
          <a:p>
            <a:pPr algn="l">
              <a:lnSpc>
                <a:spcPct val="122000"/>
              </a:lnSpc>
              <a:spcBef>
                <a:spcPts val="0"/>
              </a:spcBef>
              <a:spcAft>
                <a:spcPts val="500"/>
              </a:spcAft>
            </a:pPr>
            <a:r>
              <a:rPr sz="1000" b="0" i="0">
                <a:solidFill>
                  <a:srgbClr val="4A5568"/>
                </a:solidFill>
                <a:latin typeface="Segoe UI"/>
              </a:rPr>
              <a:t>Operator-reported load</a:t>
            </a:r>
          </a:p>
          <a:p>
            <a:pPr algn="l">
              <a:lnSpc>
                <a:spcPct val="122000"/>
              </a:lnSpc>
              <a:spcBef>
                <a:spcPts val="0"/>
              </a:spcBef>
              <a:spcAft>
                <a:spcPts val="500"/>
              </a:spcAft>
            </a:pPr>
            <a:r>
              <a:rPr sz="1000" b="0" i="0">
                <a:solidFill>
                  <a:srgbClr val="4A5568"/>
                </a:solidFill>
                <a:latin typeface="Segoe UI"/>
              </a:rPr>
              <a:t>on 71% of vehicles</a:t>
            </a:r>
          </a:p>
        </p:txBody>
      </p:sp>
      <p:sp>
        <p:nvSpPr>
          <p:cNvPr id="18" name="Right Arrow 17"/>
          <p:cNvSpPr/>
          <p:nvPr/>
        </p:nvSpPr>
        <p:spPr>
          <a:xfrm>
            <a:off x="4889478" y="2185416"/>
            <a:ext cx="146304" cy="146304"/>
          </a:xfrm>
          <a:prstGeom prst="rightArrow">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99790" y="1609344"/>
            <a:ext cx="1992111" cy="1298448"/>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5099790" y="1609344"/>
            <a:ext cx="45720" cy="1298448"/>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282670" y="1755648"/>
            <a:ext cx="1662927" cy="1024128"/>
          </a:xfrm>
          <a:prstGeom prst="rect">
            <a:avLst/>
          </a:prstGeom>
          <a:noFill/>
        </p:spPr>
        <p:txBody>
          <a:bodyPr wrap="square" lIns="0" rIns="0" tIns="0" bIns="0">
            <a:spAutoFit/>
          </a:bodyPr>
          <a:lstStyle/>
          <a:p>
            <a:pPr algn="l">
              <a:lnSpc>
                <a:spcPct val="122000"/>
              </a:lnSpc>
              <a:spcBef>
                <a:spcPts val="0"/>
              </a:spcBef>
              <a:spcAft>
                <a:spcPts val="700"/>
              </a:spcAft>
            </a:pPr>
            <a:r>
              <a:rPr sz="1150" b="1" i="0">
                <a:solidFill>
                  <a:srgbClr val="1B3F8B"/>
                </a:solidFill>
                <a:latin typeface="Segoe UI"/>
              </a:rPr>
              <a:t>SOURCE CHECK</a:t>
            </a:r>
          </a:p>
          <a:p>
            <a:pPr algn="l">
              <a:lnSpc>
                <a:spcPct val="122000"/>
              </a:lnSpc>
              <a:spcBef>
                <a:spcPts val="0"/>
              </a:spcBef>
              <a:spcAft>
                <a:spcPts val="500"/>
              </a:spcAft>
            </a:pPr>
            <a:r>
              <a:rPr sz="1000" b="0" i="0">
                <a:solidFill>
                  <a:srgbClr val="4A5568"/>
                </a:solidFill>
                <a:latin typeface="Segoe UI"/>
              </a:rPr>
              <a:t>Each row keeps its origin</a:t>
            </a:r>
          </a:p>
          <a:p>
            <a:pPr algn="l">
              <a:lnSpc>
                <a:spcPct val="122000"/>
              </a:lnSpc>
              <a:spcBef>
                <a:spcPts val="0"/>
              </a:spcBef>
              <a:spcAft>
                <a:spcPts val="500"/>
              </a:spcAft>
            </a:pPr>
            <a:r>
              <a:rPr sz="1000" b="0" i="0">
                <a:solidFill>
                  <a:srgbClr val="4A5568"/>
                </a:solidFill>
                <a:latin typeface="Segoe UI"/>
              </a:rPr>
              <a:t>and a quality score</a:t>
            </a:r>
          </a:p>
        </p:txBody>
      </p:sp>
      <p:sp>
        <p:nvSpPr>
          <p:cNvPr id="22" name="Right Arrow 21"/>
          <p:cNvSpPr/>
          <p:nvPr/>
        </p:nvSpPr>
        <p:spPr>
          <a:xfrm>
            <a:off x="7155909" y="2185416"/>
            <a:ext cx="146304" cy="146304"/>
          </a:xfrm>
          <a:prstGeom prst="rightArrow">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66221" y="1609344"/>
            <a:ext cx="1992111" cy="1298448"/>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7366221" y="1609344"/>
            <a:ext cx="45720" cy="1298448"/>
          </a:xfrm>
          <a:prstGeom prst="roundRect">
            <a:avLst>
              <a:gd name="adj" fmla="val 50000"/>
            </a:avLst>
          </a:prstGeom>
          <a:solidFill>
            <a:srgbClr val="E27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549101" y="1755648"/>
            <a:ext cx="1662927" cy="1024128"/>
          </a:xfrm>
          <a:prstGeom prst="rect">
            <a:avLst/>
          </a:prstGeom>
          <a:noFill/>
        </p:spPr>
        <p:txBody>
          <a:bodyPr wrap="square" lIns="0" rIns="0" tIns="0" bIns="0">
            <a:spAutoFit/>
          </a:bodyPr>
          <a:lstStyle/>
          <a:p>
            <a:pPr algn="l">
              <a:lnSpc>
                <a:spcPct val="122000"/>
              </a:lnSpc>
              <a:spcBef>
                <a:spcPts val="0"/>
              </a:spcBef>
              <a:spcAft>
                <a:spcPts val="700"/>
              </a:spcAft>
            </a:pPr>
            <a:r>
              <a:rPr sz="1150" b="1" i="0">
                <a:solidFill>
                  <a:srgbClr val="E2761B"/>
                </a:solidFill>
                <a:latin typeface="Segoe UI"/>
              </a:rPr>
              <a:t>FEATURES</a:t>
            </a:r>
          </a:p>
          <a:p>
            <a:pPr algn="l">
              <a:lnSpc>
                <a:spcPct val="122000"/>
              </a:lnSpc>
              <a:spcBef>
                <a:spcPts val="0"/>
              </a:spcBef>
              <a:spcAft>
                <a:spcPts val="500"/>
              </a:spcAft>
            </a:pPr>
            <a:r>
              <a:rPr sz="1000" b="0" i="0">
                <a:solidFill>
                  <a:srgbClr val="4A5568"/>
                </a:solidFill>
                <a:latin typeface="Segoe UI"/>
              </a:rPr>
              <a:t>Headway, lags, weather,</a:t>
            </a:r>
          </a:p>
          <a:p>
            <a:pPr algn="l">
              <a:lnSpc>
                <a:spcPct val="122000"/>
              </a:lnSpc>
              <a:spcBef>
                <a:spcPts val="0"/>
              </a:spcBef>
              <a:spcAft>
                <a:spcPts val="500"/>
              </a:spcAft>
            </a:pPr>
            <a:r>
              <a:rPr sz="1000" b="0" i="0">
                <a:solidFill>
                  <a:srgbClr val="4A5568"/>
                </a:solidFill>
                <a:latin typeface="Segoe UI"/>
              </a:rPr>
              <a:t>time, capacity</a:t>
            </a:r>
          </a:p>
        </p:txBody>
      </p:sp>
      <p:sp>
        <p:nvSpPr>
          <p:cNvPr id="26" name="Right Arrow 25"/>
          <p:cNvSpPr/>
          <p:nvPr/>
        </p:nvSpPr>
        <p:spPr>
          <a:xfrm>
            <a:off x="9422340" y="2185416"/>
            <a:ext cx="146304" cy="146304"/>
          </a:xfrm>
          <a:prstGeom prst="rightArrow">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632652" y="1609344"/>
            <a:ext cx="1992111" cy="1298448"/>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9632652" y="1609344"/>
            <a:ext cx="45720" cy="1298448"/>
          </a:xfrm>
          <a:prstGeom prst="roundRect">
            <a:avLst>
              <a:gd name="adj" fmla="val 50000"/>
            </a:avLst>
          </a:prstGeom>
          <a:solidFill>
            <a:srgbClr val="102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815532" y="1755648"/>
            <a:ext cx="1662927" cy="1024128"/>
          </a:xfrm>
          <a:prstGeom prst="rect">
            <a:avLst/>
          </a:prstGeom>
          <a:noFill/>
        </p:spPr>
        <p:txBody>
          <a:bodyPr wrap="square" lIns="0" rIns="0" tIns="0" bIns="0">
            <a:spAutoFit/>
          </a:bodyPr>
          <a:lstStyle/>
          <a:p>
            <a:pPr algn="l">
              <a:lnSpc>
                <a:spcPct val="122000"/>
              </a:lnSpc>
              <a:spcBef>
                <a:spcPts val="0"/>
              </a:spcBef>
              <a:spcAft>
                <a:spcPts val="700"/>
              </a:spcAft>
            </a:pPr>
            <a:r>
              <a:rPr sz="1150" b="1" i="0">
                <a:solidFill>
                  <a:srgbClr val="10275C"/>
                </a:solidFill>
                <a:latin typeface="Segoe UI"/>
              </a:rPr>
              <a:t>FORECAST MODELS</a:t>
            </a:r>
          </a:p>
          <a:p>
            <a:pPr algn="l">
              <a:lnSpc>
                <a:spcPct val="122000"/>
              </a:lnSpc>
              <a:spcBef>
                <a:spcPts val="0"/>
              </a:spcBef>
              <a:spcAft>
                <a:spcPts val="500"/>
              </a:spcAft>
            </a:pPr>
            <a:r>
              <a:rPr sz="1000" b="0" i="0">
                <a:solidFill>
                  <a:srgbClr val="4A5568"/>
                </a:solidFill>
                <a:latin typeface="Segoe UI"/>
              </a:rPr>
              <a:t>Crowd and arrival ranges,</a:t>
            </a:r>
          </a:p>
          <a:p>
            <a:pPr algn="l">
              <a:lnSpc>
                <a:spcPct val="122000"/>
              </a:lnSpc>
              <a:spcBef>
                <a:spcPts val="0"/>
              </a:spcBef>
              <a:spcAft>
                <a:spcPts val="500"/>
              </a:spcAft>
            </a:pPr>
            <a:r>
              <a:rPr sz="1000" b="0" i="0">
                <a:solidFill>
                  <a:srgbClr val="4A5568"/>
                </a:solidFill>
                <a:latin typeface="Segoe UI"/>
              </a:rPr>
              <a:t>not single guesses</a:t>
            </a:r>
          </a:p>
        </p:txBody>
      </p:sp>
      <p:graphicFrame>
        <p:nvGraphicFramePr>
          <p:cNvPr id="30" name="Table 29"/>
          <p:cNvGraphicFramePr>
            <a:graphicFrameLocks noGrp="1"/>
          </p:cNvGraphicFramePr>
          <p:nvPr/>
        </p:nvGraphicFramePr>
        <p:xfrm>
          <a:off x="566928" y="3145536"/>
          <a:ext cx="6967728" cy="2157984"/>
        </p:xfrm>
        <a:graphic>
          <a:graphicData uri="http://schemas.openxmlformats.org/drawingml/2006/table">
            <a:tbl>
              <a:tblPr firstRow="0" bandRow="0">
                <a:tableStyleId>{5C22544A-7EE6-4342-B048-85BDC9FD1C3A}</a:tableStyleId>
              </a:tblPr>
              <a:tblGrid>
                <a:gridCol w="1572768"/>
                <a:gridCol w="4224528"/>
                <a:gridCol w="1170432"/>
              </a:tblGrid>
              <a:tr h="329184">
                <a:tc>
                  <a:txBody>
                    <a:bodyPr wrap="square"/>
                    <a:lstStyle/>
                    <a:p>
                      <a:pPr algn="l"/>
                      <a:r>
                        <a:rPr sz="1000" b="1">
                          <a:solidFill>
                            <a:srgbClr val="FFFFFF"/>
                          </a:solidFill>
                          <a:latin typeface="Segoe UI"/>
                        </a:rPr>
                        <a:t>Input</a:t>
                      </a:r>
                    </a:p>
                  </a:txBody>
                  <a:tcPr anchor="ctr" marL="91440" marR="73152" marT="36576" marB="36576">
                    <a:solidFill>
                      <a:srgbClr val="10275C"/>
                    </a:solidFill>
                  </a:tcPr>
                </a:tc>
                <a:tc>
                  <a:txBody>
                    <a:bodyPr wrap="square"/>
                    <a:lstStyle/>
                    <a:p>
                      <a:pPr algn="l"/>
                      <a:r>
                        <a:rPr sz="1000" b="1">
                          <a:solidFill>
                            <a:srgbClr val="FFFFFF"/>
                          </a:solidFill>
                          <a:latin typeface="Segoe UI"/>
                        </a:rPr>
                        <a:t>Source</a:t>
                      </a:r>
                    </a:p>
                  </a:txBody>
                  <a:tcPr anchor="ctr" marL="91440" marR="73152" marT="36576" marB="36576">
                    <a:solidFill>
                      <a:srgbClr val="10275C"/>
                    </a:solidFill>
                  </a:tcPr>
                </a:tc>
                <a:tc>
                  <a:txBody>
                    <a:bodyPr wrap="square"/>
                    <a:lstStyle/>
                    <a:p>
                      <a:pPr algn="l"/>
                      <a:r>
                        <a:rPr sz="1000" b="1">
                          <a:solidFill>
                            <a:srgbClr val="FFFFFF"/>
                          </a:solidFill>
                          <a:latin typeface="Segoe UI"/>
                        </a:rPr>
                        <a:t>Status</a:t>
                      </a:r>
                    </a:p>
                  </a:txBody>
                  <a:tcPr anchor="ctr" marL="91440" marR="73152" marT="36576" marB="36576">
                    <a:solidFill>
                      <a:srgbClr val="10275C"/>
                    </a:solidFill>
                  </a:tcPr>
                </a:tc>
              </a:tr>
              <a:tr h="365760">
                <a:tc>
                  <a:txBody>
                    <a:bodyPr wrap="square"/>
                    <a:lstStyle/>
                    <a:p>
                      <a:pPr algn="l"/>
                      <a:r>
                        <a:rPr sz="950" b="1">
                          <a:solidFill>
                            <a:srgbClr val="4A5568"/>
                          </a:solidFill>
                          <a:latin typeface="Segoe UI"/>
                        </a:rPr>
                        <a:t>Network topology</a:t>
                      </a:r>
                    </a:p>
                  </a:txBody>
                  <a:tcPr anchor="ctr" marL="91440" marR="73152" marT="36576" marB="36576">
                    <a:solidFill>
                      <a:srgbClr val="F5F7FA"/>
                    </a:solidFill>
                  </a:tcPr>
                </a:tc>
                <a:tc>
                  <a:txBody>
                    <a:bodyPr wrap="square"/>
                    <a:lstStyle/>
                    <a:p>
                      <a:pPr algn="l"/>
                      <a:r>
                        <a:rPr sz="950" b="0">
                          <a:solidFill>
                            <a:srgbClr val="4A5568"/>
                          </a:solidFill>
                          <a:latin typeface="Segoe UI"/>
                        </a:rPr>
                        <a:t>GTFS Schedule: 399 routes, 10,297 stops, 2.2M stop-times</a:t>
                      </a:r>
                    </a:p>
                  </a:txBody>
                  <a:tcPr anchor="ctr" marL="91440" marR="73152" marT="36576" marB="36576">
                    <a:solidFill>
                      <a:srgbClr val="F5F7FA"/>
                    </a:solidFill>
                  </a:tcPr>
                </a:tc>
                <a:tc>
                  <a:txBody>
                    <a:bodyPr wrap="square"/>
                    <a:lstStyle/>
                    <a:p>
                      <a:pPr algn="l"/>
                      <a:r>
                        <a:rPr sz="950" b="1">
                          <a:solidFill>
                            <a:srgbClr val="138808"/>
                          </a:solidFill>
                          <a:latin typeface="Segoe UI"/>
                        </a:rPr>
                        <a:t>Measured</a:t>
                      </a:r>
                    </a:p>
                  </a:txBody>
                  <a:tcPr anchor="ctr" marL="91440" marR="73152" marT="36576" marB="36576">
                    <a:solidFill>
                      <a:srgbClr val="F5F7FA"/>
                    </a:solidFill>
                  </a:tcPr>
                </a:tc>
              </a:tr>
              <a:tr h="365760">
                <a:tc>
                  <a:txBody>
                    <a:bodyPr wrap="square"/>
                    <a:lstStyle/>
                    <a:p>
                      <a:pPr algn="l"/>
                      <a:r>
                        <a:rPr sz="950" b="1">
                          <a:solidFill>
                            <a:srgbClr val="4A5568"/>
                          </a:solidFill>
                          <a:latin typeface="Segoe UI"/>
                        </a:rPr>
                        <a:t>Vehicle movement</a:t>
                      </a:r>
                    </a:p>
                  </a:txBody>
                  <a:tcPr anchor="ctr" marL="91440" marR="73152" marT="36576" marB="36576">
                    <a:solidFill>
                      <a:srgbClr val="FFFFFF"/>
                    </a:solidFill>
                  </a:tcPr>
                </a:tc>
                <a:tc>
                  <a:txBody>
                    <a:bodyPr wrap="square"/>
                    <a:lstStyle/>
                    <a:p>
                      <a:pPr algn="l"/>
                      <a:r>
                        <a:rPr sz="950" b="0">
                          <a:solidFill>
                            <a:srgbClr val="4A5568"/>
                          </a:solidFill>
                          <a:latin typeface="Segoe UI"/>
                        </a:rPr>
                        <a:t>GTFS-Realtime VehiclePositions, ~560 vehicles every 20 s</a:t>
                      </a:r>
                    </a:p>
                  </a:txBody>
                  <a:tcPr anchor="ctr" marL="91440" marR="73152" marT="36576" marB="36576">
                    <a:solidFill>
                      <a:srgbClr val="FFFFFF"/>
                    </a:solidFill>
                  </a:tcPr>
                </a:tc>
                <a:tc>
                  <a:txBody>
                    <a:bodyPr wrap="square"/>
                    <a:lstStyle/>
                    <a:p>
                      <a:pPr algn="l"/>
                      <a:r>
                        <a:rPr sz="950" b="1">
                          <a:solidFill>
                            <a:srgbClr val="138808"/>
                          </a:solidFill>
                          <a:latin typeface="Segoe UI"/>
                        </a:rPr>
                        <a:t>Measured</a:t>
                      </a:r>
                    </a:p>
                  </a:txBody>
                  <a:tcPr anchor="ctr" marL="91440" marR="73152" marT="36576" marB="36576">
                    <a:solidFill>
                      <a:srgbClr val="FFFFFF"/>
                    </a:solidFill>
                  </a:tcPr>
                </a:tc>
              </a:tr>
              <a:tr h="365760">
                <a:tc>
                  <a:txBody>
                    <a:bodyPr wrap="square"/>
                    <a:lstStyle/>
                    <a:p>
                      <a:pPr algn="l"/>
                      <a:r>
                        <a:rPr sz="950" b="1">
                          <a:solidFill>
                            <a:srgbClr val="4A5568"/>
                          </a:solidFill>
                          <a:latin typeface="Segoe UI"/>
                        </a:rPr>
                        <a:t>Crowding labels</a:t>
                      </a:r>
                    </a:p>
                  </a:txBody>
                  <a:tcPr anchor="ctr" marL="91440" marR="73152" marT="36576" marB="36576">
                    <a:solidFill>
                      <a:srgbClr val="F5F7FA"/>
                    </a:solidFill>
                  </a:tcPr>
                </a:tc>
                <a:tc>
                  <a:txBody>
                    <a:bodyPr wrap="square"/>
                    <a:lstStyle/>
                    <a:p>
                      <a:pPr algn="l"/>
                      <a:r>
                        <a:rPr sz="950" b="0">
                          <a:solidFill>
                            <a:srgbClr val="4A5568"/>
                          </a:solidFill>
                          <a:latin typeface="Segoe UI"/>
                        </a:rPr>
                        <a:t>Operator-reported occupancy_status on ~71% of vehicles</a:t>
                      </a:r>
                    </a:p>
                  </a:txBody>
                  <a:tcPr anchor="ctr" marL="91440" marR="73152" marT="36576" marB="36576">
                    <a:solidFill>
                      <a:srgbClr val="F5F7FA"/>
                    </a:solidFill>
                  </a:tcPr>
                </a:tc>
                <a:tc>
                  <a:txBody>
                    <a:bodyPr wrap="square"/>
                    <a:lstStyle/>
                    <a:p>
                      <a:pPr algn="l"/>
                      <a:r>
                        <a:rPr sz="950" b="1">
                          <a:solidFill>
                            <a:srgbClr val="138808"/>
                          </a:solidFill>
                          <a:latin typeface="Segoe UI"/>
                        </a:rPr>
                        <a:t>Measured</a:t>
                      </a:r>
                    </a:p>
                  </a:txBody>
                  <a:tcPr anchor="ctr" marL="91440" marR="73152" marT="36576" marB="36576">
                    <a:solidFill>
                      <a:srgbClr val="F5F7FA"/>
                    </a:solidFill>
                  </a:tcPr>
                </a:tc>
              </a:tr>
              <a:tr h="365760">
                <a:tc>
                  <a:txBody>
                    <a:bodyPr wrap="square"/>
                    <a:lstStyle/>
                    <a:p>
                      <a:pPr algn="l"/>
                      <a:r>
                        <a:rPr sz="950" b="1">
                          <a:solidFill>
                            <a:srgbClr val="4A5568"/>
                          </a:solidFill>
                          <a:latin typeface="Segoe UI"/>
                        </a:rPr>
                        <a:t>Delay labels</a:t>
                      </a:r>
                    </a:p>
                  </a:txBody>
                  <a:tcPr anchor="ctr" marL="91440" marR="73152" marT="36576" marB="36576">
                    <a:solidFill>
                      <a:srgbClr val="FFFFFF"/>
                    </a:solidFill>
                  </a:tcPr>
                </a:tc>
                <a:tc>
                  <a:txBody>
                    <a:bodyPr wrap="square"/>
                    <a:lstStyle/>
                    <a:p>
                      <a:pPr algn="l"/>
                      <a:r>
                        <a:rPr sz="950" b="0">
                          <a:solidFill>
                            <a:srgbClr val="4A5568"/>
                          </a:solidFill>
                          <a:latin typeface="Segoe UI"/>
                        </a:rPr>
                        <a:t>TripUpdates arrival delay, plus observed stop passages</a:t>
                      </a:r>
                    </a:p>
                  </a:txBody>
                  <a:tcPr anchor="ctr" marL="91440" marR="73152" marT="36576" marB="36576">
                    <a:solidFill>
                      <a:srgbClr val="FFFFFF"/>
                    </a:solidFill>
                  </a:tcPr>
                </a:tc>
                <a:tc>
                  <a:txBody>
                    <a:bodyPr wrap="square"/>
                    <a:lstStyle/>
                    <a:p>
                      <a:pPr algn="l"/>
                      <a:r>
                        <a:rPr sz="950" b="1">
                          <a:solidFill>
                            <a:srgbClr val="138808"/>
                          </a:solidFill>
                          <a:latin typeface="Segoe UI"/>
                        </a:rPr>
                        <a:t>Measured</a:t>
                      </a:r>
                    </a:p>
                  </a:txBody>
                  <a:tcPr anchor="ctr" marL="91440" marR="73152" marT="36576" marB="36576">
                    <a:solidFill>
                      <a:srgbClr val="FFFFFF"/>
                    </a:solidFill>
                  </a:tcPr>
                </a:tc>
              </a:tr>
              <a:tr h="365760">
                <a:tc>
                  <a:txBody>
                    <a:bodyPr wrap="square"/>
                    <a:lstStyle/>
                    <a:p>
                      <a:pPr algn="l"/>
                      <a:r>
                        <a:rPr sz="950" b="1">
                          <a:solidFill>
                            <a:srgbClr val="4A5568"/>
                          </a:solidFill>
                          <a:latin typeface="Segoe UI"/>
                        </a:rPr>
                        <a:t>Weather</a:t>
                      </a:r>
                    </a:p>
                  </a:txBody>
                  <a:tcPr anchor="ctr" marL="91440" marR="73152" marT="36576" marB="36576">
                    <a:solidFill>
                      <a:srgbClr val="F5F7FA"/>
                    </a:solidFill>
                  </a:tcPr>
                </a:tc>
                <a:tc>
                  <a:txBody>
                    <a:bodyPr wrap="square"/>
                    <a:lstStyle/>
                    <a:p>
                      <a:pPr algn="l"/>
                      <a:r>
                        <a:rPr sz="950" b="0">
                          <a:solidFill>
                            <a:srgbClr val="4A5568"/>
                          </a:solidFill>
                          <a:latin typeface="Segoe UI"/>
                        </a:rPr>
                        <a:t>Open-Meteo hourly history and forecast</a:t>
                      </a:r>
                    </a:p>
                  </a:txBody>
                  <a:tcPr anchor="ctr" marL="91440" marR="73152" marT="36576" marB="36576">
                    <a:solidFill>
                      <a:srgbClr val="F5F7FA"/>
                    </a:solidFill>
                  </a:tcPr>
                </a:tc>
                <a:tc>
                  <a:txBody>
                    <a:bodyPr wrap="square"/>
                    <a:lstStyle/>
                    <a:p>
                      <a:pPr algn="l"/>
                      <a:r>
                        <a:rPr sz="950" b="1">
                          <a:solidFill>
                            <a:srgbClr val="138808"/>
                          </a:solidFill>
                          <a:latin typeface="Segoe UI"/>
                        </a:rPr>
                        <a:t>Measured</a:t>
                      </a:r>
                    </a:p>
                  </a:txBody>
                  <a:tcPr anchor="ctr" marL="91440" marR="73152" marT="36576" marB="36576">
                    <a:solidFill>
                      <a:srgbClr val="F5F7FA"/>
                    </a:solidFill>
                  </a:tcPr>
                </a:tc>
              </a:tr>
            </a:tbl>
          </a:graphicData>
        </a:graphic>
      </p:graphicFrame>
      <p:sp>
        <p:nvSpPr>
          <p:cNvPr id="31" name="Rounded Rectangle 30"/>
          <p:cNvSpPr/>
          <p:nvPr/>
        </p:nvSpPr>
        <p:spPr>
          <a:xfrm>
            <a:off x="7808976" y="3145536"/>
            <a:ext cx="3815791" cy="1821180"/>
          </a:xfrm>
          <a:prstGeom prst="roundRect">
            <a:avLst>
              <a:gd name="adj" fmla="val 5000"/>
            </a:avLst>
          </a:prstGeom>
          <a:solidFill>
            <a:srgbClr val="F5F7FA"/>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7808976" y="3145536"/>
            <a:ext cx="45720" cy="1821180"/>
          </a:xfrm>
          <a:prstGeom prst="roundRect">
            <a:avLst>
              <a:gd name="adj" fmla="val 50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046720" y="3310128"/>
            <a:ext cx="3340303" cy="1491996"/>
          </a:xfrm>
          <a:prstGeom prst="rect">
            <a:avLst/>
          </a:prstGeom>
          <a:noFill/>
        </p:spPr>
        <p:txBody>
          <a:bodyPr wrap="square" lIns="0" rIns="0" tIns="0" bIns="0">
            <a:spAutoFit/>
          </a:bodyPr>
          <a:lstStyle/>
          <a:p>
            <a:pPr algn="l">
              <a:lnSpc>
                <a:spcPct val="124000"/>
              </a:lnSpc>
              <a:spcBef>
                <a:spcPts val="0"/>
              </a:spcBef>
              <a:spcAft>
                <a:spcPts val="800"/>
              </a:spcAft>
            </a:pPr>
            <a:r>
              <a:rPr sz="1000" b="1" i="0">
                <a:solidFill>
                  <a:srgbClr val="138808"/>
                </a:solidFill>
                <a:latin typeface="Segoe UI"/>
              </a:rPr>
              <a:t>COLLECTION IS ALREADY RUNNING</a:t>
            </a:r>
          </a:p>
          <a:p>
            <a:pPr algn="l">
              <a:lnSpc>
                <a:spcPct val="105000"/>
              </a:lnSpc>
              <a:spcBef>
                <a:spcPts val="0"/>
              </a:spcBef>
              <a:spcAft>
                <a:spcPts val="0"/>
              </a:spcAft>
            </a:pPr>
            <a:r>
              <a:rPr sz="2100" b="1">
                <a:solidFill>
                  <a:srgbClr val="138808"/>
                </a:solidFill>
                <a:latin typeface="Segoe UI"/>
              </a:rPr>
              <a:t>2 million</a:t>
            </a:r>
          </a:p>
          <a:p>
            <a:pPr algn="l">
              <a:lnSpc>
                <a:spcPct val="120000"/>
              </a:lnSpc>
              <a:spcBef>
                <a:spcPts val="0"/>
              </a:spcBef>
              <a:spcAft>
                <a:spcPts val="1000"/>
              </a:spcAft>
            </a:pPr>
            <a:r>
              <a:rPr sz="1050" b="0">
                <a:solidFill>
                  <a:srgbClr val="4A5568"/>
                </a:solidFill>
                <a:latin typeface="Segoe UI"/>
              </a:rPr>
              <a:t>vehicle readings recorded across the network</a:t>
            </a:r>
          </a:p>
          <a:p>
            <a:pPr algn="l">
              <a:lnSpc>
                <a:spcPct val="105000"/>
              </a:lnSpc>
              <a:spcBef>
                <a:spcPts val="0"/>
              </a:spcBef>
              <a:spcAft>
                <a:spcPts val="0"/>
              </a:spcAft>
            </a:pPr>
            <a:r>
              <a:rPr sz="2100" b="1">
                <a:solidFill>
                  <a:srgbClr val="138808"/>
                </a:solidFill>
                <a:latin typeface="Segoe UI"/>
              </a:rPr>
              <a:t>1.4 million</a:t>
            </a:r>
          </a:p>
          <a:p>
            <a:pPr algn="l">
              <a:lnSpc>
                <a:spcPct val="120000"/>
              </a:lnSpc>
              <a:spcBef>
                <a:spcPts val="0"/>
              </a:spcBef>
              <a:spcAft>
                <a:spcPts val="0"/>
              </a:spcAft>
            </a:pPr>
            <a:r>
              <a:rPr sz="1050" b="0">
                <a:solidFill>
                  <a:srgbClr val="4A5568"/>
                </a:solidFill>
                <a:latin typeface="Segoe UI"/>
              </a:rPr>
              <a:t>carrying a measured occupancy value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10896"/>
            <a:ext cx="158496" cy="6858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25424" y="310896"/>
            <a:ext cx="158496" cy="68580"/>
          </a:xfrm>
          <a:prstGeom prst="rect">
            <a:avLst/>
          </a:prstGeom>
          <a:solidFill>
            <a:srgbClr val="102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83920" y="310896"/>
            <a:ext cx="158496" cy="6858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88720" y="256032"/>
            <a:ext cx="11057839" cy="237744"/>
          </a:xfrm>
          <a:prstGeom prst="rect">
            <a:avLst/>
          </a:prstGeom>
          <a:noFill/>
        </p:spPr>
        <p:txBody>
          <a:bodyPr wrap="square" lIns="0" rIns="0" tIns="0" bIns="0">
            <a:spAutoFit/>
          </a:bodyPr>
          <a:lstStyle/>
          <a:p>
            <a:pPr algn="l">
              <a:lnSpc>
                <a:spcPct val="122000"/>
              </a:lnSpc>
              <a:spcBef>
                <a:spcPts val="0"/>
              </a:spcBef>
              <a:spcAft>
                <a:spcPts val="0"/>
              </a:spcAft>
            </a:pPr>
            <a:r>
              <a:rPr sz="1000" b="1" i="0">
                <a:solidFill>
                  <a:srgbClr val="E2761B"/>
                </a:solidFill>
                <a:latin typeface="Segoe UI"/>
              </a:rPr>
              <a:t>OPERATOR COMMAND CENTRE</a:t>
            </a:r>
          </a:p>
        </p:txBody>
      </p:sp>
      <p:sp>
        <p:nvSpPr>
          <p:cNvPr id="6" name="TextBox 5"/>
          <p:cNvSpPr txBox="1"/>
          <p:nvPr/>
        </p:nvSpPr>
        <p:spPr>
          <a:xfrm>
            <a:off x="566928" y="548640"/>
            <a:ext cx="11057839" cy="457200"/>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0275C"/>
                </a:solidFill>
                <a:latin typeface="Segoe UI"/>
              </a:rPr>
              <a:t>From reacting to overcrowding, to preventing it</a:t>
            </a:r>
          </a:p>
        </p:txBody>
      </p:sp>
      <p:sp>
        <p:nvSpPr>
          <p:cNvPr id="7" name="TextBox 6"/>
          <p:cNvSpPr txBox="1"/>
          <p:nvPr/>
        </p:nvSpPr>
        <p:spPr>
          <a:xfrm>
            <a:off x="566928" y="1060704"/>
            <a:ext cx="10783519" cy="292608"/>
          </a:xfrm>
          <a:prstGeom prst="rect">
            <a:avLst/>
          </a:prstGeom>
          <a:noFill/>
        </p:spPr>
        <p:txBody>
          <a:bodyPr wrap="square" lIns="0" rIns="0" tIns="0" bIns="0">
            <a:spAutoFit/>
          </a:bodyPr>
          <a:lstStyle/>
          <a:p>
            <a:pPr algn="l">
              <a:lnSpc>
                <a:spcPct val="122000"/>
              </a:lnSpc>
              <a:spcBef>
                <a:spcPts val="0"/>
              </a:spcBef>
              <a:spcAft>
                <a:spcPts val="0"/>
              </a:spcAft>
            </a:pPr>
            <a:r>
              <a:rPr sz="1250" b="0" i="0">
                <a:solidFill>
                  <a:srgbClr val="8490A2"/>
                </a:solidFill>
                <a:latin typeface="Segoe UI"/>
              </a:rPr>
              <a:t>The capability consumer navigation products do not offer, and the one a transport authority is most likely to procure.</a:t>
            </a:r>
          </a:p>
        </p:txBody>
      </p:sp>
      <p:sp>
        <p:nvSpPr>
          <p:cNvPr id="8" name="Rectangle 7"/>
          <p:cNvSpPr/>
          <p:nvPr/>
        </p:nvSpPr>
        <p:spPr>
          <a:xfrm>
            <a:off x="566928" y="1371600"/>
            <a:ext cx="11057839" cy="952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66928" y="6419088"/>
            <a:ext cx="10509199" cy="201168"/>
          </a:xfrm>
          <a:prstGeom prst="rect">
            <a:avLst/>
          </a:prstGeom>
          <a:noFill/>
        </p:spPr>
        <p:txBody>
          <a:bodyPr wrap="square" lIns="0" rIns="0" tIns="0" bIns="0">
            <a:spAutoFit/>
          </a:bodyPr>
          <a:lstStyle/>
          <a:p>
            <a:pPr algn="l">
              <a:lnSpc>
                <a:spcPct val="122000"/>
              </a:lnSpc>
              <a:spcBef>
                <a:spcPts val="0"/>
              </a:spcBef>
              <a:spcAft>
                <a:spcPts val="0"/>
              </a:spcAft>
            </a:pPr>
            <a:r>
              <a:rPr sz="850" b="0" i="0">
                <a:solidFill>
                  <a:srgbClr val="8490A2"/>
                </a:solidFill>
                <a:latin typeface="Segoe UI"/>
              </a:rPr>
              <a:t>PRAVAAH  |  Intelligent Public Transport Crowding &amp; Route Prediction</a:t>
            </a:r>
          </a:p>
        </p:txBody>
      </p:sp>
      <p:sp>
        <p:nvSpPr>
          <p:cNvPr id="10" name="TextBox 9"/>
          <p:cNvSpPr txBox="1"/>
          <p:nvPr/>
        </p:nvSpPr>
        <p:spPr>
          <a:xfrm>
            <a:off x="11076127" y="6419088"/>
            <a:ext cx="548640" cy="201168"/>
          </a:xfrm>
          <a:prstGeom prst="rect">
            <a:avLst/>
          </a:prstGeom>
          <a:noFill/>
        </p:spPr>
        <p:txBody>
          <a:bodyPr wrap="square" lIns="0" rIns="0" tIns="0" bIns="0">
            <a:spAutoFit/>
          </a:bodyPr>
          <a:lstStyle/>
          <a:p>
            <a:pPr algn="r">
              <a:lnSpc>
                <a:spcPct val="122000"/>
              </a:lnSpc>
              <a:spcBef>
                <a:spcPts val="0"/>
              </a:spcBef>
              <a:spcAft>
                <a:spcPts val="0"/>
              </a:spcAft>
            </a:pPr>
            <a:r>
              <a:rPr sz="900" b="1" i="0">
                <a:solidFill>
                  <a:srgbClr val="10275C"/>
                </a:solidFill>
                <a:latin typeface="Segoe UI"/>
              </a:rPr>
              <a:t>8</a:t>
            </a:r>
          </a:p>
        </p:txBody>
      </p:sp>
      <p:sp>
        <p:nvSpPr>
          <p:cNvPr id="11" name="Rounded Rectangle 10"/>
          <p:cNvSpPr/>
          <p:nvPr/>
        </p:nvSpPr>
        <p:spPr>
          <a:xfrm>
            <a:off x="566928" y="1609344"/>
            <a:ext cx="11057839" cy="2395728"/>
          </a:xfrm>
          <a:prstGeom prst="roundRect">
            <a:avLst>
              <a:gd name="adj" fmla="val 5000"/>
            </a:avLst>
          </a:prstGeom>
          <a:solidFill>
            <a:srgbClr val="F5F7FA"/>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41248" y="1746504"/>
            <a:ext cx="8686800" cy="237744"/>
          </a:xfrm>
          <a:prstGeom prst="rect">
            <a:avLst/>
          </a:prstGeom>
          <a:noFill/>
        </p:spPr>
        <p:txBody>
          <a:bodyPr wrap="square" lIns="0" rIns="0" tIns="0" bIns="0">
            <a:spAutoFit/>
          </a:bodyPr>
          <a:lstStyle/>
          <a:p>
            <a:pPr algn="l">
              <a:lnSpc>
                <a:spcPct val="122000"/>
              </a:lnSpc>
              <a:spcBef>
                <a:spcPts val="0"/>
              </a:spcBef>
              <a:spcAft>
                <a:spcPts val="0"/>
              </a:spcAft>
            </a:pPr>
            <a:r>
              <a:rPr sz="1150" b="1">
                <a:solidFill>
                  <a:srgbClr val="10275C"/>
                </a:solidFill>
                <a:latin typeface="Segoe UI"/>
              </a:rPr>
              <a:t>Predicted corridor load, Route R12</a:t>
            </a:r>
            <a:r>
              <a:rPr sz="1050" b="0">
                <a:solidFill>
                  <a:srgbClr val="E2761B"/>
                </a:solidFill>
                <a:latin typeface="Segoe UI"/>
              </a:rPr>
              <a:t>      alert raised at 17:05, a full 30 minutes before capacity is breached</a:t>
            </a:r>
          </a:p>
        </p:txBody>
      </p:sp>
      <p:sp>
        <p:nvSpPr>
          <p:cNvPr id="13" name="Rectangle 12"/>
          <p:cNvSpPr/>
          <p:nvPr/>
        </p:nvSpPr>
        <p:spPr>
          <a:xfrm>
            <a:off x="932688" y="3456432"/>
            <a:ext cx="10326319" cy="12700"/>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93268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05156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117043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28930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40817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52704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64592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76479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8366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2140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24028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35915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47802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59689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71576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83464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5351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07238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19125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31012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42900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54787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66674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378561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390448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402336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414223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426110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437997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449884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461772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473659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485546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497433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509320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521208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533095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544982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556869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568756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580644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592531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604418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616305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628192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640080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651967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663854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675741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687628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Rectangle 64"/>
          <p:cNvSpPr/>
          <p:nvPr/>
        </p:nvSpPr>
        <p:spPr>
          <a:xfrm>
            <a:off x="699516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ectangle 65"/>
          <p:cNvSpPr/>
          <p:nvPr/>
        </p:nvSpPr>
        <p:spPr>
          <a:xfrm>
            <a:off x="711403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ectangle 66"/>
          <p:cNvSpPr/>
          <p:nvPr/>
        </p:nvSpPr>
        <p:spPr>
          <a:xfrm>
            <a:off x="723290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ectangle 67"/>
          <p:cNvSpPr/>
          <p:nvPr/>
        </p:nvSpPr>
        <p:spPr>
          <a:xfrm>
            <a:off x="735177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ectangle 68"/>
          <p:cNvSpPr/>
          <p:nvPr/>
        </p:nvSpPr>
        <p:spPr>
          <a:xfrm>
            <a:off x="747064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Rectangle 69"/>
          <p:cNvSpPr/>
          <p:nvPr/>
        </p:nvSpPr>
        <p:spPr>
          <a:xfrm>
            <a:off x="758952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Rectangle 70"/>
          <p:cNvSpPr/>
          <p:nvPr/>
        </p:nvSpPr>
        <p:spPr>
          <a:xfrm>
            <a:off x="770839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ectangle 71"/>
          <p:cNvSpPr/>
          <p:nvPr/>
        </p:nvSpPr>
        <p:spPr>
          <a:xfrm>
            <a:off x="782726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ectangle 72"/>
          <p:cNvSpPr/>
          <p:nvPr/>
        </p:nvSpPr>
        <p:spPr>
          <a:xfrm>
            <a:off x="794613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Rectangle 73"/>
          <p:cNvSpPr/>
          <p:nvPr/>
        </p:nvSpPr>
        <p:spPr>
          <a:xfrm>
            <a:off x="806500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Rectangle 74"/>
          <p:cNvSpPr/>
          <p:nvPr/>
        </p:nvSpPr>
        <p:spPr>
          <a:xfrm>
            <a:off x="818388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Rectangle 75"/>
          <p:cNvSpPr/>
          <p:nvPr/>
        </p:nvSpPr>
        <p:spPr>
          <a:xfrm>
            <a:off x="830275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ectangle 76"/>
          <p:cNvSpPr/>
          <p:nvPr/>
        </p:nvSpPr>
        <p:spPr>
          <a:xfrm>
            <a:off x="842162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Rectangle 77"/>
          <p:cNvSpPr/>
          <p:nvPr/>
        </p:nvSpPr>
        <p:spPr>
          <a:xfrm>
            <a:off x="854049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Rectangle 78"/>
          <p:cNvSpPr/>
          <p:nvPr/>
        </p:nvSpPr>
        <p:spPr>
          <a:xfrm>
            <a:off x="865936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Rectangle 79"/>
          <p:cNvSpPr/>
          <p:nvPr/>
        </p:nvSpPr>
        <p:spPr>
          <a:xfrm>
            <a:off x="877824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Rectangle 80"/>
          <p:cNvSpPr/>
          <p:nvPr/>
        </p:nvSpPr>
        <p:spPr>
          <a:xfrm>
            <a:off x="889711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Rectangle 81"/>
          <p:cNvSpPr/>
          <p:nvPr/>
        </p:nvSpPr>
        <p:spPr>
          <a:xfrm>
            <a:off x="901598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Rectangle 82"/>
          <p:cNvSpPr/>
          <p:nvPr/>
        </p:nvSpPr>
        <p:spPr>
          <a:xfrm>
            <a:off x="913485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Rectangle 83"/>
          <p:cNvSpPr/>
          <p:nvPr/>
        </p:nvSpPr>
        <p:spPr>
          <a:xfrm>
            <a:off x="925372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Rectangle 84"/>
          <p:cNvSpPr/>
          <p:nvPr/>
        </p:nvSpPr>
        <p:spPr>
          <a:xfrm>
            <a:off x="937260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Rectangle 85"/>
          <p:cNvSpPr/>
          <p:nvPr/>
        </p:nvSpPr>
        <p:spPr>
          <a:xfrm>
            <a:off x="949147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Rectangle 86"/>
          <p:cNvSpPr/>
          <p:nvPr/>
        </p:nvSpPr>
        <p:spPr>
          <a:xfrm>
            <a:off x="961034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Rectangle 87"/>
          <p:cNvSpPr/>
          <p:nvPr/>
        </p:nvSpPr>
        <p:spPr>
          <a:xfrm>
            <a:off x="972921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Rectangle 88"/>
          <p:cNvSpPr/>
          <p:nvPr/>
        </p:nvSpPr>
        <p:spPr>
          <a:xfrm>
            <a:off x="984808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Rectangle 89"/>
          <p:cNvSpPr/>
          <p:nvPr/>
        </p:nvSpPr>
        <p:spPr>
          <a:xfrm>
            <a:off x="996696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Rectangle 90"/>
          <p:cNvSpPr/>
          <p:nvPr/>
        </p:nvSpPr>
        <p:spPr>
          <a:xfrm>
            <a:off x="1008583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Rectangle 91"/>
          <p:cNvSpPr/>
          <p:nvPr/>
        </p:nvSpPr>
        <p:spPr>
          <a:xfrm>
            <a:off x="1020470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Rectangle 92"/>
          <p:cNvSpPr/>
          <p:nvPr/>
        </p:nvSpPr>
        <p:spPr>
          <a:xfrm>
            <a:off x="1032357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Rectangle 93"/>
          <p:cNvSpPr/>
          <p:nvPr/>
        </p:nvSpPr>
        <p:spPr>
          <a:xfrm>
            <a:off x="1044244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Rectangle 94"/>
          <p:cNvSpPr/>
          <p:nvPr/>
        </p:nvSpPr>
        <p:spPr>
          <a:xfrm>
            <a:off x="10561320"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Rectangle 95"/>
          <p:cNvSpPr/>
          <p:nvPr/>
        </p:nvSpPr>
        <p:spPr>
          <a:xfrm>
            <a:off x="10680192"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Rectangle 96"/>
          <p:cNvSpPr/>
          <p:nvPr/>
        </p:nvSpPr>
        <p:spPr>
          <a:xfrm>
            <a:off x="10799064"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Rectangle 97"/>
          <p:cNvSpPr/>
          <p:nvPr/>
        </p:nvSpPr>
        <p:spPr>
          <a:xfrm>
            <a:off x="10917936"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Rectangle 98"/>
          <p:cNvSpPr/>
          <p:nvPr/>
        </p:nvSpPr>
        <p:spPr>
          <a:xfrm>
            <a:off x="11036808" y="2477110"/>
            <a:ext cx="68580" cy="12700"/>
          </a:xfrm>
          <a:prstGeom prst="rect">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TextBox 99"/>
          <p:cNvSpPr txBox="1"/>
          <p:nvPr/>
        </p:nvSpPr>
        <p:spPr>
          <a:xfrm>
            <a:off x="9567367" y="2285086"/>
            <a:ext cx="1645920" cy="182880"/>
          </a:xfrm>
          <a:prstGeom prst="rect">
            <a:avLst/>
          </a:prstGeom>
          <a:noFill/>
        </p:spPr>
        <p:txBody>
          <a:bodyPr wrap="square" lIns="0" rIns="0" tIns="0" bIns="0">
            <a:spAutoFit/>
          </a:bodyPr>
          <a:lstStyle/>
          <a:p>
            <a:pPr algn="r">
              <a:lnSpc>
                <a:spcPct val="122000"/>
              </a:lnSpc>
              <a:spcBef>
                <a:spcPts val="0"/>
              </a:spcBef>
              <a:spcAft>
                <a:spcPts val="0"/>
              </a:spcAft>
            </a:pPr>
            <a:r>
              <a:rPr sz="900" b="1" i="0">
                <a:solidFill>
                  <a:srgbClr val="C43D2E"/>
                </a:solidFill>
                <a:latin typeface="Segoe UI"/>
              </a:rPr>
              <a:t>capacity</a:t>
            </a:r>
          </a:p>
        </p:txBody>
      </p:sp>
      <p:sp>
        <p:nvSpPr>
          <p:cNvPr id="101" name="Rounded Rectangle 100"/>
          <p:cNvSpPr/>
          <p:nvPr/>
        </p:nvSpPr>
        <p:spPr>
          <a:xfrm>
            <a:off x="1397372" y="2903403"/>
            <a:ext cx="791684" cy="553029"/>
          </a:xfrm>
          <a:prstGeom prst="roundRect">
            <a:avLst>
              <a:gd name="adj" fmla="val 16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TextBox 101"/>
          <p:cNvSpPr txBox="1"/>
          <p:nvPr/>
        </p:nvSpPr>
        <p:spPr>
          <a:xfrm>
            <a:off x="1290294" y="2665659"/>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138808"/>
                </a:solidFill>
                <a:latin typeface="Segoe UI"/>
              </a:rPr>
              <a:t>48%</a:t>
            </a:r>
          </a:p>
        </p:txBody>
      </p:sp>
      <p:sp>
        <p:nvSpPr>
          <p:cNvPr id="103" name="TextBox 102"/>
          <p:cNvSpPr txBox="1"/>
          <p:nvPr/>
        </p:nvSpPr>
        <p:spPr>
          <a:xfrm>
            <a:off x="1226286" y="3538728"/>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950" b="1" i="0">
                <a:solidFill>
                  <a:srgbClr val="10275C"/>
                </a:solidFill>
                <a:latin typeface="Segoe UI"/>
              </a:rPr>
              <a:t>17:00</a:t>
            </a:r>
          </a:p>
        </p:txBody>
      </p:sp>
      <p:sp>
        <p:nvSpPr>
          <p:cNvPr id="104" name="Rounded Rectangle 103"/>
          <p:cNvSpPr/>
          <p:nvPr/>
        </p:nvSpPr>
        <p:spPr>
          <a:xfrm>
            <a:off x="3118425" y="2742103"/>
            <a:ext cx="791684" cy="714329"/>
          </a:xfrm>
          <a:prstGeom prst="roundRect">
            <a:avLst>
              <a:gd name="adj" fmla="val 16000"/>
            </a:avLst>
          </a:prstGeom>
          <a:solidFill>
            <a:srgbClr val="C886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TextBox 104"/>
          <p:cNvSpPr txBox="1"/>
          <p:nvPr/>
        </p:nvSpPr>
        <p:spPr>
          <a:xfrm>
            <a:off x="3011347" y="2504359"/>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C8860E"/>
                </a:solidFill>
                <a:latin typeface="Segoe UI"/>
              </a:rPr>
              <a:t>62%</a:t>
            </a:r>
          </a:p>
        </p:txBody>
      </p:sp>
      <p:sp>
        <p:nvSpPr>
          <p:cNvPr id="106" name="TextBox 105"/>
          <p:cNvSpPr txBox="1"/>
          <p:nvPr/>
        </p:nvSpPr>
        <p:spPr>
          <a:xfrm>
            <a:off x="2947339" y="3538728"/>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950" b="1" i="0">
                <a:solidFill>
                  <a:srgbClr val="10275C"/>
                </a:solidFill>
                <a:latin typeface="Segoe UI"/>
              </a:rPr>
              <a:t>17:10</a:t>
            </a:r>
          </a:p>
        </p:txBody>
      </p:sp>
      <p:sp>
        <p:nvSpPr>
          <p:cNvPr id="107" name="Rounded Rectangle 106"/>
          <p:cNvSpPr/>
          <p:nvPr/>
        </p:nvSpPr>
        <p:spPr>
          <a:xfrm>
            <a:off x="4839478" y="2603846"/>
            <a:ext cx="791684" cy="852586"/>
          </a:xfrm>
          <a:prstGeom prst="roundRect">
            <a:avLst>
              <a:gd name="adj" fmla="val 16000"/>
            </a:avLst>
          </a:prstGeom>
          <a:solidFill>
            <a:srgbClr val="C886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8" name="TextBox 107"/>
          <p:cNvSpPr txBox="1"/>
          <p:nvPr/>
        </p:nvSpPr>
        <p:spPr>
          <a:xfrm>
            <a:off x="4732400" y="2366102"/>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C8860E"/>
                </a:solidFill>
                <a:latin typeface="Segoe UI"/>
              </a:rPr>
              <a:t>74%</a:t>
            </a:r>
          </a:p>
        </p:txBody>
      </p:sp>
      <p:sp>
        <p:nvSpPr>
          <p:cNvPr id="109" name="TextBox 108"/>
          <p:cNvSpPr txBox="1"/>
          <p:nvPr/>
        </p:nvSpPr>
        <p:spPr>
          <a:xfrm>
            <a:off x="4668392" y="3538728"/>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950" b="1" i="0">
                <a:solidFill>
                  <a:srgbClr val="10275C"/>
                </a:solidFill>
                <a:latin typeface="Segoe UI"/>
              </a:rPr>
              <a:t>17:20</a:t>
            </a:r>
          </a:p>
        </p:txBody>
      </p:sp>
      <p:sp>
        <p:nvSpPr>
          <p:cNvPr id="110" name="Rounded Rectangle 109"/>
          <p:cNvSpPr/>
          <p:nvPr/>
        </p:nvSpPr>
        <p:spPr>
          <a:xfrm>
            <a:off x="6560532" y="2442546"/>
            <a:ext cx="791684" cy="1013886"/>
          </a:xfrm>
          <a:prstGeom prst="roundRect">
            <a:avLst>
              <a:gd name="adj" fmla="val 16000"/>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1" name="TextBox 110"/>
          <p:cNvSpPr txBox="1"/>
          <p:nvPr/>
        </p:nvSpPr>
        <p:spPr>
          <a:xfrm>
            <a:off x="6453454" y="2204802"/>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C43D2E"/>
                </a:solidFill>
                <a:latin typeface="Segoe UI"/>
              </a:rPr>
              <a:t>88%</a:t>
            </a:r>
          </a:p>
        </p:txBody>
      </p:sp>
      <p:sp>
        <p:nvSpPr>
          <p:cNvPr id="112" name="TextBox 111"/>
          <p:cNvSpPr txBox="1"/>
          <p:nvPr/>
        </p:nvSpPr>
        <p:spPr>
          <a:xfrm>
            <a:off x="6389446" y="3538728"/>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950" b="1" i="0">
                <a:solidFill>
                  <a:srgbClr val="10275C"/>
                </a:solidFill>
                <a:latin typeface="Segoe UI"/>
              </a:rPr>
              <a:t>17:30</a:t>
            </a:r>
          </a:p>
        </p:txBody>
      </p:sp>
      <p:sp>
        <p:nvSpPr>
          <p:cNvPr id="113" name="Rounded Rectangle 112"/>
          <p:cNvSpPr/>
          <p:nvPr/>
        </p:nvSpPr>
        <p:spPr>
          <a:xfrm>
            <a:off x="8281585" y="2350374"/>
            <a:ext cx="791684" cy="1106058"/>
          </a:xfrm>
          <a:prstGeom prst="roundRect">
            <a:avLst>
              <a:gd name="adj" fmla="val 16000"/>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4" name="Rounded Rectangle 113"/>
          <p:cNvSpPr/>
          <p:nvPr/>
        </p:nvSpPr>
        <p:spPr>
          <a:xfrm>
            <a:off x="8217577" y="2286366"/>
            <a:ext cx="919700" cy="1170066"/>
          </a:xfrm>
          <a:prstGeom prst="roundRect">
            <a:avLst>
              <a:gd name="adj" fmla="val 16000"/>
            </a:avLst>
          </a:prstGeom>
          <a:noFill/>
          <a:ln w="20320">
            <a:solidFill>
              <a:srgbClr val="1027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5" name="TextBox 114"/>
          <p:cNvSpPr txBox="1"/>
          <p:nvPr/>
        </p:nvSpPr>
        <p:spPr>
          <a:xfrm>
            <a:off x="8174507" y="2112630"/>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C43D2E"/>
                </a:solidFill>
                <a:latin typeface="Segoe UI"/>
              </a:rPr>
              <a:t>96%</a:t>
            </a:r>
          </a:p>
        </p:txBody>
      </p:sp>
      <p:sp>
        <p:nvSpPr>
          <p:cNvPr id="116" name="TextBox 115"/>
          <p:cNvSpPr txBox="1"/>
          <p:nvPr/>
        </p:nvSpPr>
        <p:spPr>
          <a:xfrm>
            <a:off x="8110499" y="3538728"/>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950" b="1" i="0">
                <a:solidFill>
                  <a:srgbClr val="10275C"/>
                </a:solidFill>
                <a:latin typeface="Segoe UI"/>
              </a:rPr>
              <a:t>17:40</a:t>
            </a:r>
          </a:p>
        </p:txBody>
      </p:sp>
      <p:sp>
        <p:nvSpPr>
          <p:cNvPr id="117" name="Rounded Rectangle 116"/>
          <p:cNvSpPr/>
          <p:nvPr/>
        </p:nvSpPr>
        <p:spPr>
          <a:xfrm>
            <a:off x="10002638" y="2523196"/>
            <a:ext cx="791684" cy="933236"/>
          </a:xfrm>
          <a:prstGeom prst="roundRect">
            <a:avLst>
              <a:gd name="adj" fmla="val 16000"/>
            </a:avLst>
          </a:prstGeom>
          <a:solidFill>
            <a:srgbClr val="C4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TextBox 117"/>
          <p:cNvSpPr txBox="1"/>
          <p:nvPr/>
        </p:nvSpPr>
        <p:spPr>
          <a:xfrm>
            <a:off x="9895560" y="2285452"/>
            <a:ext cx="1005840" cy="201168"/>
          </a:xfrm>
          <a:prstGeom prst="rect">
            <a:avLst/>
          </a:prstGeom>
          <a:noFill/>
        </p:spPr>
        <p:txBody>
          <a:bodyPr wrap="square" lIns="0" rIns="0" tIns="0" bIns="0">
            <a:spAutoFit/>
          </a:bodyPr>
          <a:lstStyle/>
          <a:p>
            <a:pPr algn="ctr">
              <a:lnSpc>
                <a:spcPct val="122000"/>
              </a:lnSpc>
              <a:spcBef>
                <a:spcPts val="0"/>
              </a:spcBef>
              <a:spcAft>
                <a:spcPts val="0"/>
              </a:spcAft>
            </a:pPr>
            <a:r>
              <a:rPr sz="1000" b="1" i="0">
                <a:solidFill>
                  <a:srgbClr val="C43D2E"/>
                </a:solidFill>
                <a:latin typeface="Segoe UI"/>
              </a:rPr>
              <a:t>81%</a:t>
            </a:r>
          </a:p>
        </p:txBody>
      </p:sp>
      <p:sp>
        <p:nvSpPr>
          <p:cNvPr id="119" name="TextBox 118"/>
          <p:cNvSpPr txBox="1"/>
          <p:nvPr/>
        </p:nvSpPr>
        <p:spPr>
          <a:xfrm>
            <a:off x="9831552" y="3538728"/>
            <a:ext cx="1133856" cy="365760"/>
          </a:xfrm>
          <a:prstGeom prst="rect">
            <a:avLst/>
          </a:prstGeom>
          <a:noFill/>
        </p:spPr>
        <p:txBody>
          <a:bodyPr wrap="square" lIns="0" rIns="0" tIns="0" bIns="0">
            <a:spAutoFit/>
          </a:bodyPr>
          <a:lstStyle/>
          <a:p>
            <a:pPr algn="ctr">
              <a:lnSpc>
                <a:spcPct val="110000"/>
              </a:lnSpc>
              <a:spcBef>
                <a:spcPts val="0"/>
              </a:spcBef>
              <a:spcAft>
                <a:spcPts val="100"/>
              </a:spcAft>
            </a:pPr>
            <a:r>
              <a:rPr sz="950" b="1" i="0">
                <a:solidFill>
                  <a:srgbClr val="10275C"/>
                </a:solidFill>
                <a:latin typeface="Segoe UI"/>
              </a:rPr>
              <a:t>17:50</a:t>
            </a:r>
          </a:p>
        </p:txBody>
      </p:sp>
      <p:sp>
        <p:nvSpPr>
          <p:cNvPr id="120" name="Rounded Rectangle 119"/>
          <p:cNvSpPr/>
          <p:nvPr/>
        </p:nvSpPr>
        <p:spPr>
          <a:xfrm>
            <a:off x="566928" y="4206240"/>
            <a:ext cx="3515258" cy="1199083"/>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1" name="Rounded Rectangle 120"/>
          <p:cNvSpPr/>
          <p:nvPr/>
        </p:nvSpPr>
        <p:spPr>
          <a:xfrm>
            <a:off x="566928" y="4206240"/>
            <a:ext cx="45720" cy="1199083"/>
          </a:xfrm>
          <a:prstGeom prst="roundRect">
            <a:avLst>
              <a:gd name="adj" fmla="val 50000"/>
            </a:avLst>
          </a:prstGeom>
          <a:solidFill>
            <a:srgbClr val="E27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TextBox 121"/>
          <p:cNvSpPr txBox="1"/>
          <p:nvPr/>
        </p:nvSpPr>
        <p:spPr>
          <a:xfrm>
            <a:off x="804672" y="4370832"/>
            <a:ext cx="3039770" cy="869899"/>
          </a:xfrm>
          <a:prstGeom prst="rect">
            <a:avLst/>
          </a:prstGeom>
          <a:noFill/>
        </p:spPr>
        <p:txBody>
          <a:bodyPr wrap="square" lIns="0" rIns="0" tIns="0" bIns="0">
            <a:spAutoFit/>
          </a:bodyPr>
          <a:lstStyle/>
          <a:p>
            <a:pPr algn="l">
              <a:lnSpc>
                <a:spcPct val="124000"/>
              </a:lnSpc>
              <a:spcBef>
                <a:spcPts val="0"/>
              </a:spcBef>
              <a:spcAft>
                <a:spcPts val="600"/>
              </a:spcAft>
            </a:pPr>
            <a:r>
              <a:rPr sz="1050" b="1" i="0">
                <a:solidFill>
                  <a:srgbClr val="E2761B"/>
                </a:solidFill>
                <a:latin typeface="Segoe UI"/>
              </a:rPr>
              <a:t>PREDICTED HOTSPOTS</a:t>
            </a:r>
          </a:p>
          <a:p>
            <a:pPr algn="l">
              <a:lnSpc>
                <a:spcPct val="124000"/>
              </a:lnSpc>
              <a:spcBef>
                <a:spcPts val="0"/>
              </a:spcBef>
              <a:spcAft>
                <a:spcPts val="0"/>
              </a:spcAft>
            </a:pPr>
            <a:r>
              <a:rPr sz="1050" b="0" i="0">
                <a:solidFill>
                  <a:srgbClr val="4A5568"/>
                </a:solidFill>
                <a:latin typeface="Segoe UI"/>
              </a:rPr>
              <a:t>Exceedance probability, duration and lead time. Escalated only when the lower confidence bound breaches.</a:t>
            </a:r>
          </a:p>
        </p:txBody>
      </p:sp>
      <p:sp>
        <p:nvSpPr>
          <p:cNvPr id="123" name="Rounded Rectangle 122"/>
          <p:cNvSpPr/>
          <p:nvPr/>
        </p:nvSpPr>
        <p:spPr>
          <a:xfrm>
            <a:off x="4338218" y="4206240"/>
            <a:ext cx="3515258" cy="1199083"/>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4" name="Rounded Rectangle 123"/>
          <p:cNvSpPr/>
          <p:nvPr/>
        </p:nvSpPr>
        <p:spPr>
          <a:xfrm>
            <a:off x="4338218" y="4206240"/>
            <a:ext cx="45720" cy="1199083"/>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5" name="TextBox 124"/>
          <p:cNvSpPr txBox="1"/>
          <p:nvPr/>
        </p:nvSpPr>
        <p:spPr>
          <a:xfrm>
            <a:off x="4575962" y="4370832"/>
            <a:ext cx="3039770" cy="869899"/>
          </a:xfrm>
          <a:prstGeom prst="rect">
            <a:avLst/>
          </a:prstGeom>
          <a:noFill/>
        </p:spPr>
        <p:txBody>
          <a:bodyPr wrap="square" lIns="0" rIns="0" tIns="0" bIns="0">
            <a:spAutoFit/>
          </a:bodyPr>
          <a:lstStyle/>
          <a:p>
            <a:pPr algn="l">
              <a:lnSpc>
                <a:spcPct val="124000"/>
              </a:lnSpc>
              <a:spcBef>
                <a:spcPts val="0"/>
              </a:spcBef>
              <a:spcAft>
                <a:spcPts val="600"/>
              </a:spcAft>
            </a:pPr>
            <a:r>
              <a:rPr sz="1050" b="1" i="0">
                <a:solidFill>
                  <a:srgbClr val="1B3F8B"/>
                </a:solidFill>
                <a:latin typeface="Segoe UI"/>
              </a:rPr>
              <a:t>SERVICE INSTABILITY</a:t>
            </a:r>
          </a:p>
          <a:p>
            <a:pPr algn="l">
              <a:lnSpc>
                <a:spcPct val="124000"/>
              </a:lnSpc>
              <a:spcBef>
                <a:spcPts val="0"/>
              </a:spcBef>
              <a:spcAft>
                <a:spcPts val="0"/>
              </a:spcAft>
            </a:pPr>
            <a:r>
              <a:rPr sz="1050" b="0" i="0">
                <a:solidFill>
                  <a:srgbClr val="4A5568"/>
                </a:solidFill>
                <a:latin typeface="Segoe UI"/>
              </a:rPr>
              <a:t>Headway tracked directly: bunching, recurrent delay segments, fleet state with data-freshness flags.</a:t>
            </a:r>
          </a:p>
        </p:txBody>
      </p:sp>
      <p:sp>
        <p:nvSpPr>
          <p:cNvPr id="126" name="Rounded Rectangle 125"/>
          <p:cNvSpPr/>
          <p:nvPr/>
        </p:nvSpPr>
        <p:spPr>
          <a:xfrm>
            <a:off x="8109508" y="4206240"/>
            <a:ext cx="3515258" cy="1199083"/>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7" name="Rounded Rectangle 126"/>
          <p:cNvSpPr/>
          <p:nvPr/>
        </p:nvSpPr>
        <p:spPr>
          <a:xfrm>
            <a:off x="8109508" y="4206240"/>
            <a:ext cx="45720" cy="1199083"/>
          </a:xfrm>
          <a:prstGeom prst="roundRect">
            <a:avLst>
              <a:gd name="adj" fmla="val 50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8" name="TextBox 127"/>
          <p:cNvSpPr txBox="1"/>
          <p:nvPr/>
        </p:nvSpPr>
        <p:spPr>
          <a:xfrm>
            <a:off x="8347252" y="4370832"/>
            <a:ext cx="3039770" cy="869899"/>
          </a:xfrm>
          <a:prstGeom prst="rect">
            <a:avLst/>
          </a:prstGeom>
          <a:noFill/>
        </p:spPr>
        <p:txBody>
          <a:bodyPr wrap="square" lIns="0" rIns="0" tIns="0" bIns="0">
            <a:spAutoFit/>
          </a:bodyPr>
          <a:lstStyle/>
          <a:p>
            <a:pPr algn="l">
              <a:lnSpc>
                <a:spcPct val="124000"/>
              </a:lnSpc>
              <a:spcBef>
                <a:spcPts val="0"/>
              </a:spcBef>
              <a:spcAft>
                <a:spcPts val="600"/>
              </a:spcAft>
            </a:pPr>
            <a:r>
              <a:rPr sz="1050" b="1" i="0">
                <a:solidFill>
                  <a:srgbClr val="138808"/>
                </a:solidFill>
                <a:latin typeface="Segoe UI"/>
              </a:rPr>
              <a:t>SCENARIO EVALUATION</a:t>
            </a:r>
          </a:p>
          <a:p>
            <a:pPr algn="l">
              <a:lnSpc>
                <a:spcPct val="124000"/>
              </a:lnSpc>
              <a:spcBef>
                <a:spcPts val="0"/>
              </a:spcBef>
              <a:spcAft>
                <a:spcPts val="0"/>
              </a:spcAft>
            </a:pPr>
            <a:r>
              <a:rPr sz="1050" b="0" i="0">
                <a:solidFill>
                  <a:srgbClr val="4A5568"/>
                </a:solidFill>
                <a:latin typeface="Segoe UI"/>
              </a:rPr>
              <a:t>“Add one bus at 17:20”: predicted load relief, compared against the option of doing nothing.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10896"/>
            <a:ext cx="158496" cy="6858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25424" y="310896"/>
            <a:ext cx="158496" cy="68580"/>
          </a:xfrm>
          <a:prstGeom prst="rect">
            <a:avLst/>
          </a:prstGeom>
          <a:solidFill>
            <a:srgbClr val="102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83920" y="310896"/>
            <a:ext cx="158496" cy="6858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88720" y="256032"/>
            <a:ext cx="11057839" cy="237744"/>
          </a:xfrm>
          <a:prstGeom prst="rect">
            <a:avLst/>
          </a:prstGeom>
          <a:noFill/>
        </p:spPr>
        <p:txBody>
          <a:bodyPr wrap="square" lIns="0" rIns="0" tIns="0" bIns="0">
            <a:spAutoFit/>
          </a:bodyPr>
          <a:lstStyle/>
          <a:p>
            <a:pPr algn="l">
              <a:lnSpc>
                <a:spcPct val="122000"/>
              </a:lnSpc>
              <a:spcBef>
                <a:spcPts val="0"/>
              </a:spcBef>
              <a:spcAft>
                <a:spcPts val="0"/>
              </a:spcAft>
            </a:pPr>
            <a:r>
              <a:rPr sz="1000" b="1" i="0">
                <a:solidFill>
                  <a:srgbClr val="E2761B"/>
                </a:solidFill>
                <a:latin typeface="Segoe UI"/>
              </a:rPr>
              <a:t>IMPLEMENTATION</a:t>
            </a:r>
          </a:p>
        </p:txBody>
      </p:sp>
      <p:sp>
        <p:nvSpPr>
          <p:cNvPr id="6" name="TextBox 5"/>
          <p:cNvSpPr txBox="1"/>
          <p:nvPr/>
        </p:nvSpPr>
        <p:spPr>
          <a:xfrm>
            <a:off x="566928" y="548640"/>
            <a:ext cx="11057839" cy="457200"/>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0275C"/>
                </a:solidFill>
                <a:latin typeface="Segoe UI"/>
              </a:rPr>
              <a:t>Technology stack and delivered capabilities</a:t>
            </a:r>
          </a:p>
        </p:txBody>
      </p:sp>
      <p:sp>
        <p:nvSpPr>
          <p:cNvPr id="7" name="Rectangle 6"/>
          <p:cNvSpPr/>
          <p:nvPr/>
        </p:nvSpPr>
        <p:spPr>
          <a:xfrm>
            <a:off x="566928" y="1060704"/>
            <a:ext cx="11057839" cy="952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6419088"/>
            <a:ext cx="10509199" cy="201168"/>
          </a:xfrm>
          <a:prstGeom prst="rect">
            <a:avLst/>
          </a:prstGeom>
          <a:noFill/>
        </p:spPr>
        <p:txBody>
          <a:bodyPr wrap="square" lIns="0" rIns="0" tIns="0" bIns="0">
            <a:spAutoFit/>
          </a:bodyPr>
          <a:lstStyle/>
          <a:p>
            <a:pPr algn="l">
              <a:lnSpc>
                <a:spcPct val="122000"/>
              </a:lnSpc>
              <a:spcBef>
                <a:spcPts val="0"/>
              </a:spcBef>
              <a:spcAft>
                <a:spcPts val="0"/>
              </a:spcAft>
            </a:pPr>
            <a:r>
              <a:rPr sz="850" b="0" i="0">
                <a:solidFill>
                  <a:srgbClr val="8490A2"/>
                </a:solidFill>
                <a:latin typeface="Segoe UI"/>
              </a:rPr>
              <a:t>PRAVAAH  |  Intelligent Public Transport Crowding &amp; Route Prediction</a:t>
            </a:r>
          </a:p>
        </p:txBody>
      </p:sp>
      <p:sp>
        <p:nvSpPr>
          <p:cNvPr id="9" name="TextBox 8"/>
          <p:cNvSpPr txBox="1"/>
          <p:nvPr/>
        </p:nvSpPr>
        <p:spPr>
          <a:xfrm>
            <a:off x="11076127" y="6419088"/>
            <a:ext cx="548640" cy="201168"/>
          </a:xfrm>
          <a:prstGeom prst="rect">
            <a:avLst/>
          </a:prstGeom>
          <a:noFill/>
        </p:spPr>
        <p:txBody>
          <a:bodyPr wrap="square" lIns="0" rIns="0" tIns="0" bIns="0">
            <a:spAutoFit/>
          </a:bodyPr>
          <a:lstStyle/>
          <a:p>
            <a:pPr algn="r">
              <a:lnSpc>
                <a:spcPct val="122000"/>
              </a:lnSpc>
              <a:spcBef>
                <a:spcPts val="0"/>
              </a:spcBef>
              <a:spcAft>
                <a:spcPts val="0"/>
              </a:spcAft>
            </a:pPr>
            <a:r>
              <a:rPr sz="900" b="1" i="0">
                <a:solidFill>
                  <a:srgbClr val="10275C"/>
                </a:solidFill>
                <a:latin typeface="Segoe UI"/>
              </a:rPr>
              <a:t>9</a:t>
            </a:r>
          </a:p>
        </p:txBody>
      </p:sp>
      <p:sp>
        <p:nvSpPr>
          <p:cNvPr id="10" name="Rounded Rectangle 9"/>
          <p:cNvSpPr/>
          <p:nvPr/>
        </p:nvSpPr>
        <p:spPr>
          <a:xfrm>
            <a:off x="566928" y="1298448"/>
            <a:ext cx="5391759" cy="4327956"/>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66928" y="1298448"/>
            <a:ext cx="45720" cy="4327956"/>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04672" y="1554480"/>
            <a:ext cx="4916271" cy="3815892"/>
          </a:xfrm>
          <a:prstGeom prst="rect">
            <a:avLst/>
          </a:prstGeom>
          <a:noFill/>
        </p:spPr>
        <p:txBody>
          <a:bodyPr wrap="square" lIns="0" rIns="0" tIns="0" bIns="0">
            <a:spAutoFit/>
          </a:bodyPr>
          <a:lstStyle/>
          <a:p>
            <a:pPr algn="l">
              <a:lnSpc>
                <a:spcPct val="124000"/>
              </a:lnSpc>
              <a:spcBef>
                <a:spcPts val="0"/>
              </a:spcBef>
              <a:spcAft>
                <a:spcPts val="1000"/>
              </a:spcAft>
            </a:pPr>
            <a:r>
              <a:rPr sz="1050" b="1" i="0">
                <a:solidFill>
                  <a:srgbClr val="1B3F8B"/>
                </a:solidFill>
                <a:latin typeface="Segoe UI"/>
              </a:rPr>
              <a:t>TECHNOLOGY</a:t>
            </a:r>
          </a:p>
          <a:p>
            <a:pPr algn="l">
              <a:lnSpc>
                <a:spcPct val="122000"/>
              </a:lnSpc>
              <a:spcBef>
                <a:spcPts val="0"/>
              </a:spcBef>
              <a:spcAft>
                <a:spcPts val="2100"/>
              </a:spcAft>
            </a:pPr>
            <a:r>
              <a:rPr sz="1050" b="1">
                <a:solidFill>
                  <a:srgbClr val="10275C"/>
                </a:solidFill>
                <a:latin typeface="Segoe UI"/>
              </a:rPr>
              <a:t>Backend   </a:t>
            </a:r>
            <a:r>
              <a:rPr sz="1050" b="0">
                <a:solidFill>
                  <a:srgbClr val="4A5568"/>
                </a:solidFill>
                <a:latin typeface="Segoe UI"/>
              </a:rPr>
              <a:t>Python FastAPI with asynchronous feed workers</a:t>
            </a:r>
          </a:p>
          <a:p>
            <a:pPr algn="l">
              <a:lnSpc>
                <a:spcPct val="122000"/>
              </a:lnSpc>
              <a:spcBef>
                <a:spcPts val="0"/>
              </a:spcBef>
              <a:spcAft>
                <a:spcPts val="2100"/>
              </a:spcAft>
            </a:pPr>
            <a:r>
              <a:rPr sz="1050" b="1">
                <a:solidFill>
                  <a:srgbClr val="10275C"/>
                </a:solidFill>
                <a:latin typeface="Segoe UI"/>
              </a:rPr>
              <a:t>Models   </a:t>
            </a:r>
            <a:r>
              <a:rPr sz="1050" b="0">
                <a:solidFill>
                  <a:srgbClr val="4A5568"/>
                </a:solidFill>
                <a:latin typeface="Segoe UI"/>
              </a:rPr>
              <a:t>LightGBM quantile regression, scikit-learn</a:t>
            </a:r>
          </a:p>
          <a:p>
            <a:pPr algn="l">
              <a:lnSpc>
                <a:spcPct val="122000"/>
              </a:lnSpc>
              <a:spcBef>
                <a:spcPts val="0"/>
              </a:spcBef>
              <a:spcAft>
                <a:spcPts val="2100"/>
              </a:spcAft>
            </a:pPr>
            <a:r>
              <a:rPr sz="1050" b="1">
                <a:solidFill>
                  <a:srgbClr val="10275C"/>
                </a:solidFill>
                <a:latin typeface="Segoe UI"/>
              </a:rPr>
              <a:t>Routing   </a:t>
            </a:r>
            <a:r>
              <a:rPr sz="1050" b="0">
                <a:solidFill>
                  <a:srgbClr val="4A5568"/>
                </a:solidFill>
                <a:latin typeface="Segoe UI"/>
              </a:rPr>
              <a:t>Established GTFS routing library (RAPTOR/CSA)</a:t>
            </a:r>
          </a:p>
          <a:p>
            <a:pPr algn="l">
              <a:lnSpc>
                <a:spcPct val="122000"/>
              </a:lnSpc>
              <a:spcBef>
                <a:spcPts val="0"/>
              </a:spcBef>
              <a:spcAft>
                <a:spcPts val="2100"/>
              </a:spcAft>
            </a:pPr>
            <a:r>
              <a:rPr sz="1050" b="1">
                <a:solidFill>
                  <a:srgbClr val="10275C"/>
                </a:solidFill>
                <a:latin typeface="Segoe UI"/>
              </a:rPr>
              <a:t>Database   </a:t>
            </a:r>
            <a:r>
              <a:rPr sz="1050" b="0">
                <a:solidFill>
                  <a:srgbClr val="4A5568"/>
                </a:solidFill>
                <a:latin typeface="Segoe UI"/>
              </a:rPr>
              <a:t>PostgreSQL with PostGIS for the network graph</a:t>
            </a:r>
          </a:p>
          <a:p>
            <a:pPr algn="l">
              <a:lnSpc>
                <a:spcPct val="122000"/>
              </a:lnSpc>
              <a:spcBef>
                <a:spcPts val="0"/>
              </a:spcBef>
              <a:spcAft>
                <a:spcPts val="2100"/>
              </a:spcAft>
            </a:pPr>
            <a:r>
              <a:rPr sz="1050" b="1">
                <a:solidFill>
                  <a:srgbClr val="10275C"/>
                </a:solidFill>
                <a:latin typeface="Segoe UI"/>
              </a:rPr>
              <a:t>State   </a:t>
            </a:r>
            <a:r>
              <a:rPr sz="1050" b="0">
                <a:solidFill>
                  <a:srgbClr val="4A5568"/>
                </a:solidFill>
                <a:latin typeface="Segoe UI"/>
              </a:rPr>
              <a:t>Redis for live vehicle state, Parquet for history</a:t>
            </a:r>
          </a:p>
          <a:p>
            <a:pPr algn="l">
              <a:lnSpc>
                <a:spcPct val="122000"/>
              </a:lnSpc>
              <a:spcBef>
                <a:spcPts val="0"/>
              </a:spcBef>
              <a:spcAft>
                <a:spcPts val="2100"/>
              </a:spcAft>
            </a:pPr>
            <a:r>
              <a:rPr sz="1050" b="1">
                <a:solidFill>
                  <a:srgbClr val="10275C"/>
                </a:solidFill>
                <a:latin typeface="Segoe UI"/>
              </a:rPr>
              <a:t>Interface   </a:t>
            </a:r>
            <a:r>
              <a:rPr sz="1050" b="0">
                <a:solidFill>
                  <a:srgbClr val="4A5568"/>
                </a:solidFill>
                <a:latin typeface="Segoe UI"/>
              </a:rPr>
              <a:t>React with MapLibre</a:t>
            </a:r>
          </a:p>
          <a:p>
            <a:pPr algn="l">
              <a:lnSpc>
                <a:spcPct val="122000"/>
              </a:lnSpc>
              <a:spcBef>
                <a:spcPts val="0"/>
              </a:spcBef>
              <a:spcAft>
                <a:spcPts val="2100"/>
              </a:spcAft>
            </a:pPr>
            <a:r>
              <a:rPr sz="1050" b="1">
                <a:solidFill>
                  <a:srgbClr val="10275C"/>
                </a:solidFill>
                <a:latin typeface="Segoe UI"/>
              </a:rPr>
              <a:t>Deployment   </a:t>
            </a:r>
            <a:r>
              <a:rPr sz="1050" b="0">
                <a:solidFill>
                  <a:srgbClr val="4A5568"/>
                </a:solidFill>
                <a:latin typeface="Segoe UI"/>
              </a:rPr>
              <a:t>Docker Compose, single-command startup</a:t>
            </a:r>
          </a:p>
        </p:txBody>
      </p:sp>
      <p:sp>
        <p:nvSpPr>
          <p:cNvPr id="13" name="Rounded Rectangle 12"/>
          <p:cNvSpPr/>
          <p:nvPr/>
        </p:nvSpPr>
        <p:spPr>
          <a:xfrm>
            <a:off x="6233007" y="1298448"/>
            <a:ext cx="5391759" cy="4327956"/>
          </a:xfrm>
          <a:prstGeom prst="roundRect">
            <a:avLst>
              <a:gd name="adj" fmla="val 5000"/>
            </a:avLst>
          </a:prstGeom>
          <a:solidFill>
            <a:srgbClr val="F5F7FA"/>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233007" y="1298448"/>
            <a:ext cx="45720" cy="4327956"/>
          </a:xfrm>
          <a:prstGeom prst="roundRect">
            <a:avLst>
              <a:gd name="adj" fmla="val 50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70751" y="1554480"/>
            <a:ext cx="4916271" cy="3815892"/>
          </a:xfrm>
          <a:prstGeom prst="rect">
            <a:avLst/>
          </a:prstGeom>
          <a:noFill/>
        </p:spPr>
        <p:txBody>
          <a:bodyPr wrap="square" lIns="0" rIns="0" tIns="0" bIns="0">
            <a:spAutoFit/>
          </a:bodyPr>
          <a:lstStyle/>
          <a:p>
            <a:pPr algn="l">
              <a:lnSpc>
                <a:spcPct val="124000"/>
              </a:lnSpc>
              <a:spcBef>
                <a:spcPts val="0"/>
              </a:spcBef>
              <a:spcAft>
                <a:spcPts val="1000"/>
              </a:spcAft>
            </a:pPr>
            <a:r>
              <a:rPr sz="1050" b="1" i="0">
                <a:solidFill>
                  <a:srgbClr val="138808"/>
                </a:solidFill>
                <a:latin typeface="Segoe UI"/>
              </a:rPr>
              <a:t>DELIVERABLES</a:t>
            </a:r>
          </a:p>
          <a:p>
            <a:pPr algn="l">
              <a:lnSpc>
                <a:spcPct val="124000"/>
              </a:lnSpc>
              <a:spcBef>
                <a:spcPts val="0"/>
              </a:spcBef>
              <a:spcAft>
                <a:spcPts val="1900"/>
              </a:spcAft>
            </a:pPr>
            <a:r>
              <a:rPr sz="1050" b="1">
                <a:solidFill>
                  <a:srgbClr val="138808"/>
                </a:solidFill>
                <a:latin typeface="Segoe UI"/>
              </a:rPr>
              <a:t>▪  </a:t>
            </a:r>
            <a:r>
              <a:rPr sz="1050" b="0">
                <a:solidFill>
                  <a:srgbClr val="4A5568"/>
                </a:solidFill>
                <a:latin typeface="Segoe UI"/>
              </a:rPr>
              <a:t>Journey planner returning ranked routes with predicted crowding, arrival time and delay risk.</a:t>
            </a:r>
          </a:p>
          <a:p>
            <a:pPr algn="l">
              <a:lnSpc>
                <a:spcPct val="124000"/>
              </a:lnSpc>
              <a:spcBef>
                <a:spcPts val="0"/>
              </a:spcBef>
              <a:spcAft>
                <a:spcPts val="1900"/>
              </a:spcAft>
            </a:pPr>
            <a:r>
              <a:rPr sz="1050" b="1">
                <a:solidFill>
                  <a:srgbClr val="138808"/>
                </a:solidFill>
                <a:latin typeface="Segoe UI"/>
              </a:rPr>
              <a:t>▪  </a:t>
            </a:r>
            <a:r>
              <a:rPr sz="1050" b="0">
                <a:solidFill>
                  <a:srgbClr val="4A5568"/>
                </a:solidFill>
                <a:latin typeface="Segoe UI"/>
              </a:rPr>
              <a:t>Four preference profiles the traveller can switch between.</a:t>
            </a:r>
          </a:p>
          <a:p>
            <a:pPr algn="l">
              <a:lnSpc>
                <a:spcPct val="124000"/>
              </a:lnSpc>
              <a:spcBef>
                <a:spcPts val="0"/>
              </a:spcBef>
              <a:spcAft>
                <a:spcPts val="1900"/>
              </a:spcAft>
            </a:pPr>
            <a:r>
              <a:rPr sz="1050" b="1">
                <a:solidFill>
                  <a:srgbClr val="138808"/>
                </a:solidFill>
                <a:latin typeface="Segoe UI"/>
              </a:rPr>
              <a:t>▪  </a:t>
            </a:r>
            <a:r>
              <a:rPr sz="1050" b="0">
                <a:solidFill>
                  <a:srgbClr val="4A5568"/>
                </a:solidFill>
                <a:latin typeface="Segoe UI"/>
              </a:rPr>
              <a:t>Departure-time advice when travelling later gives a materially better journey.</a:t>
            </a:r>
          </a:p>
          <a:p>
            <a:pPr algn="l">
              <a:lnSpc>
                <a:spcPct val="124000"/>
              </a:lnSpc>
              <a:spcBef>
                <a:spcPts val="0"/>
              </a:spcBef>
              <a:spcAft>
                <a:spcPts val="1900"/>
              </a:spcAft>
            </a:pPr>
            <a:r>
              <a:rPr sz="1050" b="1">
                <a:solidFill>
                  <a:srgbClr val="138808"/>
                </a:solidFill>
                <a:latin typeface="Segoe UI"/>
              </a:rPr>
              <a:t>▪  </a:t>
            </a:r>
            <a:r>
              <a:rPr sz="1050" b="0">
                <a:solidFill>
                  <a:srgbClr val="4A5568"/>
                </a:solidFill>
                <a:latin typeface="Segoe UI"/>
              </a:rPr>
              <a:t>Live re-scoring that updates an active journey as conditions change.</a:t>
            </a:r>
          </a:p>
          <a:p>
            <a:pPr algn="l">
              <a:lnSpc>
                <a:spcPct val="124000"/>
              </a:lnSpc>
              <a:spcBef>
                <a:spcPts val="0"/>
              </a:spcBef>
              <a:spcAft>
                <a:spcPts val="1900"/>
              </a:spcAft>
            </a:pPr>
            <a:r>
              <a:rPr sz="1050" b="1">
                <a:solidFill>
                  <a:srgbClr val="138808"/>
                </a:solidFill>
                <a:latin typeface="Segoe UI"/>
              </a:rPr>
              <a:t>▪  </a:t>
            </a:r>
            <a:r>
              <a:rPr sz="1050" b="0">
                <a:solidFill>
                  <a:srgbClr val="4A5568"/>
                </a:solidFill>
                <a:latin typeface="Segoe UI"/>
              </a:rPr>
              <a:t>Operator dashboard showing predicted hotspots with lead time.</a:t>
            </a:r>
          </a:p>
          <a:p>
            <a:pPr algn="l">
              <a:lnSpc>
                <a:spcPct val="124000"/>
              </a:lnSpc>
              <a:spcBef>
                <a:spcPts val="0"/>
              </a:spcBef>
              <a:spcAft>
                <a:spcPts val="1900"/>
              </a:spcAft>
            </a:pPr>
            <a:r>
              <a:rPr sz="1050" b="1">
                <a:solidFill>
                  <a:srgbClr val="138808"/>
                </a:solidFill>
                <a:latin typeface="Segoe UI"/>
              </a:rPr>
              <a:t>▪  </a:t>
            </a:r>
            <a:r>
              <a:rPr sz="1050" b="0">
                <a:solidFill>
                  <a:srgbClr val="4A5568"/>
                </a:solidFill>
                <a:latin typeface="Segoe UI"/>
              </a:rPr>
              <a:t>Scenario tool comparing an added vehicle or a headway change against leaving the service unchanged.</a:t>
            </a:r>
          </a:p>
          <a:p>
            <a:pPr algn="l">
              <a:lnSpc>
                <a:spcPct val="124000"/>
              </a:lnSpc>
              <a:spcBef>
                <a:spcPts val="0"/>
              </a:spcBef>
              <a:spcAft>
                <a:spcPts val="1900"/>
              </a:spcAft>
            </a:pPr>
            <a:r>
              <a:rPr sz="1050" b="1">
                <a:solidFill>
                  <a:srgbClr val="138808"/>
                </a:solidFill>
                <a:latin typeface="Segoe UI"/>
              </a:rPr>
              <a:t>▪  </a:t>
            </a:r>
            <a:r>
              <a:rPr sz="1050" b="0">
                <a:solidFill>
                  <a:srgbClr val="4A5568"/>
                </a:solidFill>
                <a:latin typeface="Segoe UI"/>
              </a:rPr>
              <a:t>Replayable archive of every reading, for retraining and audit.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10896"/>
            <a:ext cx="158496" cy="6858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25424" y="310896"/>
            <a:ext cx="158496" cy="68580"/>
          </a:xfrm>
          <a:prstGeom prst="rect">
            <a:avLst/>
          </a:prstGeom>
          <a:solidFill>
            <a:srgbClr val="102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83920" y="310896"/>
            <a:ext cx="158496" cy="6858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88720" y="256032"/>
            <a:ext cx="11057839" cy="237744"/>
          </a:xfrm>
          <a:prstGeom prst="rect">
            <a:avLst/>
          </a:prstGeom>
          <a:noFill/>
        </p:spPr>
        <p:txBody>
          <a:bodyPr wrap="square" lIns="0" rIns="0" tIns="0" bIns="0">
            <a:spAutoFit/>
          </a:bodyPr>
          <a:lstStyle/>
          <a:p>
            <a:pPr algn="l">
              <a:lnSpc>
                <a:spcPct val="122000"/>
              </a:lnSpc>
              <a:spcBef>
                <a:spcPts val="0"/>
              </a:spcBef>
              <a:spcAft>
                <a:spcPts val="0"/>
              </a:spcAft>
            </a:pPr>
            <a:r>
              <a:rPr sz="1000" b="1" i="0">
                <a:solidFill>
                  <a:srgbClr val="E2761B"/>
                </a:solidFill>
                <a:latin typeface="Segoe UI"/>
              </a:rPr>
              <a:t>IMPACT &amp; REFERENCES</a:t>
            </a:r>
          </a:p>
        </p:txBody>
      </p:sp>
      <p:sp>
        <p:nvSpPr>
          <p:cNvPr id="6" name="TextBox 5"/>
          <p:cNvSpPr txBox="1"/>
          <p:nvPr/>
        </p:nvSpPr>
        <p:spPr>
          <a:xfrm>
            <a:off x="566928" y="548640"/>
            <a:ext cx="11057839" cy="457200"/>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0275C"/>
                </a:solidFill>
                <a:latin typeface="Segoe UI"/>
              </a:rPr>
              <a:t>Who gains, and by how much</a:t>
            </a:r>
          </a:p>
        </p:txBody>
      </p:sp>
      <p:sp>
        <p:nvSpPr>
          <p:cNvPr id="7" name="TextBox 6"/>
          <p:cNvSpPr txBox="1"/>
          <p:nvPr/>
        </p:nvSpPr>
        <p:spPr>
          <a:xfrm>
            <a:off x="566928" y="1060704"/>
            <a:ext cx="10783519" cy="292608"/>
          </a:xfrm>
          <a:prstGeom prst="rect">
            <a:avLst/>
          </a:prstGeom>
          <a:noFill/>
        </p:spPr>
        <p:txBody>
          <a:bodyPr wrap="square" lIns="0" rIns="0" tIns="0" bIns="0">
            <a:spAutoFit/>
          </a:bodyPr>
          <a:lstStyle/>
          <a:p>
            <a:pPr algn="l">
              <a:lnSpc>
                <a:spcPct val="122000"/>
              </a:lnSpc>
              <a:spcBef>
                <a:spcPts val="0"/>
              </a:spcBef>
              <a:spcAft>
                <a:spcPts val="0"/>
              </a:spcAft>
            </a:pPr>
            <a:r>
              <a:rPr sz="1250" b="0" i="0">
                <a:solidFill>
                  <a:srgbClr val="8490A2"/>
                </a:solidFill>
                <a:latin typeface="Segoe UI"/>
              </a:rPr>
              <a:t>Benefits across the three groups the system serves, with the criteria each claim is held to.</a:t>
            </a:r>
          </a:p>
        </p:txBody>
      </p:sp>
      <p:sp>
        <p:nvSpPr>
          <p:cNvPr id="8" name="Rectangle 7"/>
          <p:cNvSpPr/>
          <p:nvPr/>
        </p:nvSpPr>
        <p:spPr>
          <a:xfrm>
            <a:off x="566928" y="1371600"/>
            <a:ext cx="11057839" cy="952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66928" y="6419088"/>
            <a:ext cx="10509199" cy="201168"/>
          </a:xfrm>
          <a:prstGeom prst="rect">
            <a:avLst/>
          </a:prstGeom>
          <a:noFill/>
        </p:spPr>
        <p:txBody>
          <a:bodyPr wrap="square" lIns="0" rIns="0" tIns="0" bIns="0">
            <a:spAutoFit/>
          </a:bodyPr>
          <a:lstStyle/>
          <a:p>
            <a:pPr algn="l">
              <a:lnSpc>
                <a:spcPct val="122000"/>
              </a:lnSpc>
              <a:spcBef>
                <a:spcPts val="0"/>
              </a:spcBef>
              <a:spcAft>
                <a:spcPts val="0"/>
              </a:spcAft>
            </a:pPr>
            <a:r>
              <a:rPr sz="850" b="0" i="0">
                <a:solidFill>
                  <a:srgbClr val="8490A2"/>
                </a:solidFill>
                <a:latin typeface="Segoe UI"/>
              </a:rPr>
              <a:t>PRAVAAH  |  Intelligent Public Transport Crowding &amp; Route Prediction</a:t>
            </a:r>
          </a:p>
        </p:txBody>
      </p:sp>
      <p:sp>
        <p:nvSpPr>
          <p:cNvPr id="10" name="TextBox 9"/>
          <p:cNvSpPr txBox="1"/>
          <p:nvPr/>
        </p:nvSpPr>
        <p:spPr>
          <a:xfrm>
            <a:off x="11076127" y="6419088"/>
            <a:ext cx="548640" cy="201168"/>
          </a:xfrm>
          <a:prstGeom prst="rect">
            <a:avLst/>
          </a:prstGeom>
          <a:noFill/>
        </p:spPr>
        <p:txBody>
          <a:bodyPr wrap="square" lIns="0" rIns="0" tIns="0" bIns="0">
            <a:spAutoFit/>
          </a:bodyPr>
          <a:lstStyle/>
          <a:p>
            <a:pPr algn="r">
              <a:lnSpc>
                <a:spcPct val="122000"/>
              </a:lnSpc>
              <a:spcBef>
                <a:spcPts val="0"/>
              </a:spcBef>
              <a:spcAft>
                <a:spcPts val="0"/>
              </a:spcAft>
            </a:pPr>
            <a:r>
              <a:rPr sz="900" b="1" i="0">
                <a:solidFill>
                  <a:srgbClr val="10275C"/>
                </a:solidFill>
                <a:latin typeface="Segoe UI"/>
              </a:rPr>
              <a:t>10</a:t>
            </a:r>
          </a:p>
        </p:txBody>
      </p:sp>
      <p:sp>
        <p:nvSpPr>
          <p:cNvPr id="11" name="Rounded Rectangle 10"/>
          <p:cNvSpPr/>
          <p:nvPr/>
        </p:nvSpPr>
        <p:spPr>
          <a:xfrm>
            <a:off x="566928" y="1609344"/>
            <a:ext cx="3515258" cy="2880461"/>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66928" y="1609344"/>
            <a:ext cx="45720" cy="2880461"/>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2" y="1773936"/>
            <a:ext cx="3039770" cy="2551277"/>
          </a:xfrm>
          <a:prstGeom prst="rect">
            <a:avLst/>
          </a:prstGeom>
          <a:noFill/>
        </p:spPr>
        <p:txBody>
          <a:bodyPr wrap="square" lIns="0" rIns="0" tIns="0" bIns="0">
            <a:spAutoFit/>
          </a:bodyPr>
          <a:lstStyle/>
          <a:p>
            <a:pPr algn="l">
              <a:lnSpc>
                <a:spcPct val="124000"/>
              </a:lnSpc>
              <a:spcBef>
                <a:spcPts val="0"/>
              </a:spcBef>
              <a:spcAft>
                <a:spcPts val="800"/>
              </a:spcAft>
            </a:pPr>
            <a:r>
              <a:rPr sz="1100" b="1" i="0">
                <a:solidFill>
                  <a:srgbClr val="1B3F8B"/>
                </a:solidFill>
                <a:latin typeface="Segoe UI"/>
              </a:rPr>
              <a:t>PASSENGERS</a:t>
            </a:r>
          </a:p>
          <a:p>
            <a:pPr algn="l">
              <a:lnSpc>
                <a:spcPct val="110000"/>
              </a:lnSpc>
              <a:spcBef>
                <a:spcPts val="0"/>
              </a:spcBef>
              <a:spcAft>
                <a:spcPts val="100"/>
              </a:spcAft>
            </a:pPr>
            <a:r>
              <a:rPr sz="1300" b="1">
                <a:solidFill>
                  <a:srgbClr val="1B3F8B"/>
                </a:solidFill>
                <a:latin typeface="Segoe UI"/>
              </a:rPr>
              <a:t>9 min</a:t>
            </a:r>
          </a:p>
          <a:p>
            <a:pPr algn="l">
              <a:lnSpc>
                <a:spcPct val="120000"/>
              </a:lnSpc>
              <a:spcBef>
                <a:spcPts val="0"/>
              </a:spcBef>
              <a:spcAft>
                <a:spcPts val="900"/>
              </a:spcAft>
            </a:pPr>
            <a:r>
              <a:rPr sz="1000" b="0">
                <a:solidFill>
                  <a:srgbClr val="4A5568"/>
                </a:solidFill>
                <a:latin typeface="Segoe UI"/>
              </a:rPr>
              <a:t>saved for every full bus avoided</a:t>
            </a:r>
          </a:p>
          <a:p>
            <a:pPr algn="l">
              <a:lnSpc>
                <a:spcPct val="110000"/>
              </a:lnSpc>
              <a:spcBef>
                <a:spcPts val="0"/>
              </a:spcBef>
              <a:spcAft>
                <a:spcPts val="100"/>
              </a:spcAft>
            </a:pPr>
            <a:r>
              <a:rPr sz="1300" b="1">
                <a:solidFill>
                  <a:srgbClr val="1B3F8B"/>
                </a:solidFill>
                <a:latin typeface="Segoe UI"/>
              </a:rPr>
              <a:t>3 in 4</a:t>
            </a:r>
          </a:p>
          <a:p>
            <a:pPr algn="l">
              <a:lnSpc>
                <a:spcPct val="120000"/>
              </a:lnSpc>
              <a:spcBef>
                <a:spcPts val="0"/>
              </a:spcBef>
              <a:spcAft>
                <a:spcPts val="900"/>
              </a:spcAft>
            </a:pPr>
            <a:r>
              <a:rPr sz="1000" b="0">
                <a:solidFill>
                  <a:srgbClr val="4A5568"/>
                </a:solidFill>
                <a:latin typeface="Segoe UI"/>
              </a:rPr>
              <a:t>peak journeys have a quieter option within 15 minutes</a:t>
            </a:r>
          </a:p>
          <a:p>
            <a:pPr algn="l">
              <a:lnSpc>
                <a:spcPct val="110000"/>
              </a:lnSpc>
              <a:spcBef>
                <a:spcPts val="0"/>
              </a:spcBef>
              <a:spcAft>
                <a:spcPts val="100"/>
              </a:spcAft>
            </a:pPr>
            <a:r>
              <a:rPr sz="1300" b="1">
                <a:solidFill>
                  <a:srgbClr val="1B3F8B"/>
                </a:solidFill>
                <a:latin typeface="Segoe UI"/>
              </a:rPr>
              <a:t>Equity</a:t>
            </a:r>
          </a:p>
          <a:p>
            <a:pPr algn="l">
              <a:lnSpc>
                <a:spcPct val="120000"/>
              </a:lnSpc>
              <a:spcBef>
                <a:spcPts val="0"/>
              </a:spcBef>
              <a:spcAft>
                <a:spcPts val="900"/>
              </a:spcAft>
            </a:pPr>
            <a:r>
              <a:rPr sz="1000" b="0">
                <a:solidFill>
                  <a:srgbClr val="4A5568"/>
                </a:solidFill>
                <a:latin typeface="Segoe UI"/>
              </a:rPr>
              <a:t>greatest gain for shift workers, students and elderly riders</a:t>
            </a:r>
          </a:p>
        </p:txBody>
      </p:sp>
      <p:sp>
        <p:nvSpPr>
          <p:cNvPr id="14" name="Rounded Rectangle 13"/>
          <p:cNvSpPr/>
          <p:nvPr/>
        </p:nvSpPr>
        <p:spPr>
          <a:xfrm>
            <a:off x="4338218" y="1609344"/>
            <a:ext cx="3515258" cy="2880461"/>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4338218" y="1609344"/>
            <a:ext cx="45720" cy="2880461"/>
          </a:xfrm>
          <a:prstGeom prst="roundRect">
            <a:avLst>
              <a:gd name="adj" fmla="val 50000"/>
            </a:avLst>
          </a:prstGeom>
          <a:solidFill>
            <a:srgbClr val="E27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5962" y="1773936"/>
            <a:ext cx="3039770" cy="2551277"/>
          </a:xfrm>
          <a:prstGeom prst="rect">
            <a:avLst/>
          </a:prstGeom>
          <a:noFill/>
        </p:spPr>
        <p:txBody>
          <a:bodyPr wrap="square" lIns="0" rIns="0" tIns="0" bIns="0">
            <a:spAutoFit/>
          </a:bodyPr>
          <a:lstStyle/>
          <a:p>
            <a:pPr algn="l">
              <a:lnSpc>
                <a:spcPct val="124000"/>
              </a:lnSpc>
              <a:spcBef>
                <a:spcPts val="0"/>
              </a:spcBef>
              <a:spcAft>
                <a:spcPts val="800"/>
              </a:spcAft>
            </a:pPr>
            <a:r>
              <a:rPr sz="1100" b="1" i="0">
                <a:solidFill>
                  <a:srgbClr val="E2761B"/>
                </a:solidFill>
                <a:latin typeface="Segoe UI"/>
              </a:rPr>
              <a:t>OPERATORS</a:t>
            </a:r>
          </a:p>
          <a:p>
            <a:pPr algn="l">
              <a:lnSpc>
                <a:spcPct val="110000"/>
              </a:lnSpc>
              <a:spcBef>
                <a:spcPts val="0"/>
              </a:spcBef>
              <a:spcAft>
                <a:spcPts val="100"/>
              </a:spcAft>
            </a:pPr>
            <a:r>
              <a:rPr sz="1300" b="1">
                <a:solidFill>
                  <a:srgbClr val="E2761B"/>
                </a:solidFill>
                <a:latin typeface="Segoe UI"/>
              </a:rPr>
              <a:t>30 min</a:t>
            </a:r>
          </a:p>
          <a:p>
            <a:pPr algn="l">
              <a:lnSpc>
                <a:spcPct val="120000"/>
              </a:lnSpc>
              <a:spcBef>
                <a:spcPts val="0"/>
              </a:spcBef>
              <a:spcAft>
                <a:spcPts val="900"/>
              </a:spcAft>
            </a:pPr>
            <a:r>
              <a:rPr sz="1000" b="0">
                <a:solidFill>
                  <a:srgbClr val="4A5568"/>
                </a:solidFill>
                <a:latin typeface="Segoe UI"/>
              </a:rPr>
              <a:t>of warning before a corridor exceeds capacity</a:t>
            </a:r>
          </a:p>
          <a:p>
            <a:pPr algn="l">
              <a:lnSpc>
                <a:spcPct val="110000"/>
              </a:lnSpc>
              <a:spcBef>
                <a:spcPts val="0"/>
              </a:spcBef>
              <a:spcAft>
                <a:spcPts val="100"/>
              </a:spcAft>
            </a:pPr>
            <a:r>
              <a:rPr sz="1300" b="1">
                <a:solidFill>
                  <a:srgbClr val="E2761B"/>
                </a:solidFill>
                <a:latin typeface="Segoe UI"/>
              </a:rPr>
              <a:t>8 to 12%</a:t>
            </a:r>
          </a:p>
          <a:p>
            <a:pPr algn="l">
              <a:lnSpc>
                <a:spcPct val="120000"/>
              </a:lnSpc>
              <a:spcBef>
                <a:spcPts val="0"/>
              </a:spcBef>
              <a:spcAft>
                <a:spcPts val="900"/>
              </a:spcAft>
            </a:pPr>
            <a:r>
              <a:rPr sz="1000" b="0">
                <a:solidFill>
                  <a:srgbClr val="4A5568"/>
                </a:solidFill>
                <a:latin typeface="Segoe UI"/>
              </a:rPr>
              <a:t>peak load removed when 5% of riders travel later</a:t>
            </a:r>
          </a:p>
          <a:p>
            <a:pPr algn="l">
              <a:lnSpc>
                <a:spcPct val="110000"/>
              </a:lnSpc>
              <a:spcBef>
                <a:spcPts val="0"/>
              </a:spcBef>
              <a:spcAft>
                <a:spcPts val="100"/>
              </a:spcAft>
            </a:pPr>
            <a:r>
              <a:rPr sz="1300" b="1">
                <a:solidFill>
                  <a:srgbClr val="E2761B"/>
                </a:solidFill>
                <a:latin typeface="Segoe UI"/>
              </a:rPr>
              <a:t>No new hardware</a:t>
            </a:r>
          </a:p>
          <a:p>
            <a:pPr algn="l">
              <a:lnSpc>
                <a:spcPct val="120000"/>
              </a:lnSpc>
              <a:spcBef>
                <a:spcPts val="0"/>
              </a:spcBef>
              <a:spcAft>
                <a:spcPts val="900"/>
              </a:spcAft>
            </a:pPr>
            <a:r>
              <a:rPr sz="1000" b="0">
                <a:solidFill>
                  <a:srgbClr val="4A5568"/>
                </a:solidFill>
                <a:latin typeface="Segoe UI"/>
              </a:rPr>
              <a:t>the system runs on schedule and location data already held</a:t>
            </a:r>
          </a:p>
        </p:txBody>
      </p:sp>
      <p:sp>
        <p:nvSpPr>
          <p:cNvPr id="17" name="Rounded Rectangle 16"/>
          <p:cNvSpPr/>
          <p:nvPr/>
        </p:nvSpPr>
        <p:spPr>
          <a:xfrm>
            <a:off x="8109508" y="1609344"/>
            <a:ext cx="3515258" cy="2880461"/>
          </a:xfrm>
          <a:prstGeom prst="roundRect">
            <a:avLst>
              <a:gd name="adj" fmla="val 5000"/>
            </a:avLst>
          </a:prstGeom>
          <a:solidFill>
            <a:srgbClr val="FFFFFF"/>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8109508" y="1609344"/>
            <a:ext cx="45720" cy="2880461"/>
          </a:xfrm>
          <a:prstGeom prst="roundRect">
            <a:avLst>
              <a:gd name="adj" fmla="val 50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347252" y="1773936"/>
            <a:ext cx="3039770" cy="2551277"/>
          </a:xfrm>
          <a:prstGeom prst="rect">
            <a:avLst/>
          </a:prstGeom>
          <a:noFill/>
        </p:spPr>
        <p:txBody>
          <a:bodyPr wrap="square" lIns="0" rIns="0" tIns="0" bIns="0">
            <a:spAutoFit/>
          </a:bodyPr>
          <a:lstStyle/>
          <a:p>
            <a:pPr algn="l">
              <a:lnSpc>
                <a:spcPct val="124000"/>
              </a:lnSpc>
              <a:spcBef>
                <a:spcPts val="0"/>
              </a:spcBef>
              <a:spcAft>
                <a:spcPts val="800"/>
              </a:spcAft>
            </a:pPr>
            <a:r>
              <a:rPr sz="1100" b="1" i="0">
                <a:solidFill>
                  <a:srgbClr val="138808"/>
                </a:solidFill>
                <a:latin typeface="Segoe UI"/>
              </a:rPr>
              <a:t>THE CITY</a:t>
            </a:r>
          </a:p>
          <a:p>
            <a:pPr algn="l">
              <a:lnSpc>
                <a:spcPct val="110000"/>
              </a:lnSpc>
              <a:spcBef>
                <a:spcPts val="0"/>
              </a:spcBef>
              <a:spcAft>
                <a:spcPts val="100"/>
              </a:spcAft>
            </a:pPr>
            <a:r>
              <a:rPr sz="1300" b="1">
                <a:solidFill>
                  <a:srgbClr val="138808"/>
                </a:solidFill>
                <a:latin typeface="Segoe UI"/>
              </a:rPr>
              <a:t>1 server</a:t>
            </a:r>
          </a:p>
          <a:p>
            <a:pPr algn="l">
              <a:lnSpc>
                <a:spcPct val="120000"/>
              </a:lnSpc>
              <a:spcBef>
                <a:spcPts val="0"/>
              </a:spcBef>
              <a:spcAft>
                <a:spcPts val="900"/>
              </a:spcAft>
            </a:pPr>
            <a:r>
              <a:rPr sz="1000" b="0">
                <a:solidFill>
                  <a:srgbClr val="4A5568"/>
                </a:solidFill>
                <a:latin typeface="Segoe UI"/>
              </a:rPr>
              <a:t>runs a 500-vehicle fleet, with no licence cost</a:t>
            </a:r>
          </a:p>
          <a:p>
            <a:pPr algn="l">
              <a:lnSpc>
                <a:spcPct val="110000"/>
              </a:lnSpc>
              <a:spcBef>
                <a:spcPts val="0"/>
              </a:spcBef>
              <a:spcAft>
                <a:spcPts val="100"/>
              </a:spcAft>
            </a:pPr>
            <a:r>
              <a:rPr sz="1300" b="1">
                <a:solidFill>
                  <a:srgbClr val="138808"/>
                </a:solidFill>
                <a:latin typeface="Segoe UI"/>
              </a:rPr>
              <a:t>Any GTFS city</a:t>
            </a:r>
          </a:p>
          <a:p>
            <a:pPr algn="l">
              <a:lnSpc>
                <a:spcPct val="120000"/>
              </a:lnSpc>
              <a:spcBef>
                <a:spcPts val="0"/>
              </a:spcBef>
              <a:spcAft>
                <a:spcPts val="900"/>
              </a:spcAft>
            </a:pPr>
            <a:r>
              <a:rPr sz="1000" b="0">
                <a:solidFill>
                  <a:srgbClr val="4A5568"/>
                </a:solidFill>
                <a:latin typeface="Segoe UI"/>
              </a:rPr>
              <a:t>adopts the system without rewriting it</a:t>
            </a:r>
          </a:p>
          <a:p>
            <a:pPr algn="l">
              <a:lnSpc>
                <a:spcPct val="110000"/>
              </a:lnSpc>
              <a:spcBef>
                <a:spcPts val="0"/>
              </a:spcBef>
              <a:spcAft>
                <a:spcPts val="100"/>
              </a:spcAft>
            </a:pPr>
            <a:r>
              <a:rPr sz="1300" b="1">
                <a:solidFill>
                  <a:srgbClr val="138808"/>
                </a:solidFill>
                <a:latin typeface="Segoe UI"/>
              </a:rPr>
              <a:t>Riders retained</a:t>
            </a:r>
          </a:p>
          <a:p>
            <a:pPr algn="l">
              <a:lnSpc>
                <a:spcPct val="120000"/>
              </a:lnSpc>
              <a:spcBef>
                <a:spcPts val="0"/>
              </a:spcBef>
              <a:spcAft>
                <a:spcPts val="900"/>
              </a:spcAft>
            </a:pPr>
            <a:r>
              <a:rPr sz="1000" b="0">
                <a:solidFill>
                  <a:srgbClr val="4A5568"/>
                </a:solidFill>
                <a:latin typeface="Segoe UI"/>
              </a:rPr>
              <a:t>comfort and reliability are why they leave for cars</a:t>
            </a:r>
          </a:p>
        </p:txBody>
      </p:sp>
      <p:sp>
        <p:nvSpPr>
          <p:cNvPr id="20" name="Rounded Rectangle 19"/>
          <p:cNvSpPr/>
          <p:nvPr/>
        </p:nvSpPr>
        <p:spPr>
          <a:xfrm>
            <a:off x="566928" y="4672685"/>
            <a:ext cx="5400903" cy="1604772"/>
          </a:xfrm>
          <a:prstGeom prst="roundRect">
            <a:avLst>
              <a:gd name="adj" fmla="val 5000"/>
            </a:avLst>
          </a:prstGeom>
          <a:solidFill>
            <a:srgbClr val="F5F7FA"/>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66928" y="4672685"/>
            <a:ext cx="45720" cy="1604772"/>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04672" y="4837277"/>
            <a:ext cx="4925415" cy="1275588"/>
          </a:xfrm>
          <a:prstGeom prst="rect">
            <a:avLst/>
          </a:prstGeom>
          <a:noFill/>
        </p:spPr>
        <p:txBody>
          <a:bodyPr wrap="square" lIns="0" rIns="0" tIns="0" bIns="0">
            <a:spAutoFit/>
          </a:bodyPr>
          <a:lstStyle/>
          <a:p>
            <a:pPr algn="l">
              <a:lnSpc>
                <a:spcPct val="124000"/>
              </a:lnSpc>
              <a:spcBef>
                <a:spcPts val="0"/>
              </a:spcBef>
              <a:spcAft>
                <a:spcPts val="700"/>
              </a:spcAft>
            </a:pPr>
            <a:r>
              <a:rPr sz="1000" b="1" i="0">
                <a:solidFill>
                  <a:srgbClr val="10275C"/>
                </a:solidFill>
                <a:latin typeface="Segoe UI"/>
              </a:rPr>
              <a:t>HOW THE SYSTEM IS TESTED</a:t>
            </a:r>
          </a:p>
          <a:p>
            <a:pPr algn="l">
              <a:lnSpc>
                <a:spcPct val="122000"/>
              </a:lnSpc>
              <a:spcBef>
                <a:spcPts val="0"/>
              </a:spcBef>
              <a:spcAft>
                <a:spcPts val="500"/>
              </a:spcAft>
            </a:pPr>
            <a:r>
              <a:rPr sz="1000" b="1">
                <a:solidFill>
                  <a:srgbClr val="10275C"/>
                </a:solidFill>
                <a:latin typeface="Segoe UI"/>
              </a:rPr>
              <a:t>▪  </a:t>
            </a:r>
            <a:r>
              <a:rPr sz="1000" b="0">
                <a:solidFill>
                  <a:srgbClr val="4A5568"/>
                </a:solidFill>
                <a:latin typeface="Segoe UI"/>
              </a:rPr>
              <a:t>Crowd forecasts use a chronological hold-out, never a random split.</a:t>
            </a:r>
          </a:p>
          <a:p>
            <a:pPr algn="l">
              <a:lnSpc>
                <a:spcPct val="122000"/>
              </a:lnSpc>
              <a:spcBef>
                <a:spcPts val="0"/>
              </a:spcBef>
              <a:spcAft>
                <a:spcPts val="500"/>
              </a:spcAft>
            </a:pPr>
            <a:r>
              <a:rPr sz="1000" b="1">
                <a:solidFill>
                  <a:srgbClr val="10275C"/>
                </a:solidFill>
                <a:latin typeface="Segoe UI"/>
              </a:rPr>
              <a:t>▪  </a:t>
            </a:r>
            <a:r>
              <a:rPr sz="1000" b="0">
                <a:solidFill>
                  <a:srgbClr val="4A5568"/>
                </a:solidFill>
                <a:latin typeface="Segoe UI"/>
              </a:rPr>
              <a:t>Arrival times must beat the published timetable and the historical median.</a:t>
            </a:r>
          </a:p>
          <a:p>
            <a:pPr algn="l">
              <a:lnSpc>
                <a:spcPct val="122000"/>
              </a:lnSpc>
              <a:spcBef>
                <a:spcPts val="0"/>
              </a:spcBef>
              <a:spcAft>
                <a:spcPts val="500"/>
              </a:spcAft>
            </a:pPr>
            <a:r>
              <a:rPr sz="1000" b="1">
                <a:solidFill>
                  <a:srgbClr val="10275C"/>
                </a:solidFill>
                <a:latin typeface="Segoe UI"/>
              </a:rPr>
              <a:t>▪  </a:t>
            </a:r>
            <a:r>
              <a:rPr sz="1000" b="0">
                <a:solidFill>
                  <a:srgbClr val="4A5568"/>
                </a:solidFill>
                <a:latin typeface="Segoe UI"/>
              </a:rPr>
              <a:t>Calibration: a 90% interval must contain the outcome 90% of the time.</a:t>
            </a:r>
          </a:p>
          <a:p>
            <a:pPr algn="l">
              <a:lnSpc>
                <a:spcPct val="122000"/>
              </a:lnSpc>
              <a:spcBef>
                <a:spcPts val="0"/>
              </a:spcBef>
              <a:spcAft>
                <a:spcPts val="500"/>
              </a:spcAft>
            </a:pPr>
            <a:r>
              <a:rPr sz="1000" b="1">
                <a:solidFill>
                  <a:srgbClr val="10275C"/>
                </a:solidFill>
                <a:latin typeface="Segoe UI"/>
              </a:rPr>
              <a:t>▪  </a:t>
            </a:r>
            <a:r>
              <a:rPr sz="1000" b="0">
                <a:solidFill>
                  <a:srgbClr val="4A5568"/>
                </a:solidFill>
                <a:latin typeface="Segoe UI"/>
              </a:rPr>
              <a:t>Journey search completes within 2.5 seconds at the 95th percentile.</a:t>
            </a:r>
          </a:p>
        </p:txBody>
      </p:sp>
      <p:sp>
        <p:nvSpPr>
          <p:cNvPr id="23" name="Rounded Rectangle 22"/>
          <p:cNvSpPr/>
          <p:nvPr/>
        </p:nvSpPr>
        <p:spPr>
          <a:xfrm>
            <a:off x="6223863" y="4672685"/>
            <a:ext cx="5400903" cy="1604772"/>
          </a:xfrm>
          <a:prstGeom prst="roundRect">
            <a:avLst>
              <a:gd name="adj" fmla="val 5000"/>
            </a:avLst>
          </a:prstGeom>
          <a:solidFill>
            <a:srgbClr val="F5F7FA"/>
          </a:solidFill>
          <a:ln w="9525">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6223863" y="4672685"/>
            <a:ext cx="45720" cy="1604772"/>
          </a:xfrm>
          <a:prstGeom prst="roundRect">
            <a:avLst>
              <a:gd name="adj" fmla="val 50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61607" y="4837277"/>
            <a:ext cx="4925415" cy="1275588"/>
          </a:xfrm>
          <a:prstGeom prst="rect">
            <a:avLst/>
          </a:prstGeom>
          <a:noFill/>
        </p:spPr>
        <p:txBody>
          <a:bodyPr wrap="square" lIns="0" rIns="0" tIns="0" bIns="0">
            <a:spAutoFit/>
          </a:bodyPr>
          <a:lstStyle/>
          <a:p>
            <a:pPr algn="l">
              <a:lnSpc>
                <a:spcPct val="124000"/>
              </a:lnSpc>
              <a:spcBef>
                <a:spcPts val="0"/>
              </a:spcBef>
              <a:spcAft>
                <a:spcPts val="600"/>
              </a:spcAft>
            </a:pPr>
            <a:r>
              <a:rPr sz="1000" b="1" i="0">
                <a:solidFill>
                  <a:srgbClr val="10275C"/>
                </a:solidFill>
                <a:latin typeface="Segoe UI"/>
              </a:rPr>
              <a:t>REFERENCES</a:t>
            </a:r>
          </a:p>
          <a:p>
            <a:pPr algn="l">
              <a:lnSpc>
                <a:spcPct val="124000"/>
              </a:lnSpc>
              <a:spcBef>
                <a:spcPts val="0"/>
              </a:spcBef>
              <a:spcAft>
                <a:spcPts val="0"/>
              </a:spcAft>
            </a:pPr>
            <a:r>
              <a:rPr sz="1000" b="0">
                <a:solidFill>
                  <a:srgbClr val="4A5568"/>
                </a:solidFill>
                <a:latin typeface="Segoe UI"/>
              </a:rPr>
              <a:t>GTFS Schedule &amp; GTFS-Realtime specifications (gtfs.org) · MBTA open GTFS-RT feed, cdn.mbta.com, no key required · Delhi Open Transit Data, otd.delhi.gov.in · Transport for London BUSTO open dataset · Open-Meteo historical weather API.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